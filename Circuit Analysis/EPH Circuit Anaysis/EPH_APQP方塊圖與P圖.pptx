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EPH 多重噴嘴電子水量計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ED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APQP 方塊圖與 P 圖（Boundary / Block / Parameter Diagram）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6EA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適用設計：主板 EPHBE1M-0002 D0／顯示板 EPHBE1D-0001 D0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6EA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依據文件：電路原理技術手冊 V1.0、EMC-IR-2026-001、CNPA49 第 8 章評估報告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6EA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關聯輸出：EPH-DFMEA-2026-001（V0.1 草案）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C1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硬體工程部　│　2026-08-13　│　Fine-tek 機密文件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APQP 系統分解文件架構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1183112" cy="1298448"/>
          </a:xfrm>
          <a:prstGeom prst="roundRect">
            <a:avLst>
              <a:gd name="adj" fmla="val 5634"/>
            </a:avLst>
          </a:prstGeom>
          <a:solidFill>
            <a:srgbClr val="EAF2F8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527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邊界圖（Boundary Diagram）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18488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界定分析範圍：系統邊界內外之互動者與介面型式（E 能量／I 資訊／P 實體），紅色虛線＝非預期雜訊介面。DFMEA 之範圍依據。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624328"/>
            <a:ext cx="11183112" cy="1298448"/>
          </a:xfrm>
          <a:prstGeom prst="roundRect">
            <a:avLst>
              <a:gd name="adj" fmla="val 5634"/>
            </a:avLst>
          </a:prstGeom>
          <a:solidFill>
            <a:srgbClr val="EAF2F8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340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子系統方塊圖（Block Diagram）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099816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各方塊內部訊號流與元件角色：輸入 → 處理 → 輸出，含 @ 預留（不上件）元件標註。失效傳遞路徑的判讀基礎。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105656"/>
            <a:ext cx="11183112" cy="1298448"/>
          </a:xfrm>
          <a:prstGeom prst="roundRect">
            <a:avLst>
              <a:gd name="adj" fmla="val 5634"/>
            </a:avLst>
          </a:prstGeom>
          <a:solidFill>
            <a:srgbClr val="FDEDEC"/>
          </a:solidFill>
          <a:ln w="12700">
            <a:solidFill>
              <a:srgbClr val="9431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153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圖（Parameter Diagram）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58114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以理想功能為中心：輸入、控制因子（設計者可決定）、五類雜訊因子（僅能使設計穩健）、誤差狀態（＝DFMEA 失效模式來源）。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5806440"/>
            <a:ext cx="11183112" cy="640080"/>
          </a:xfrm>
          <a:prstGeom prst="rect">
            <a:avLst/>
          </a:prstGeom>
          <a:solidFill>
            <a:srgbClr val="D6E4F0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61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雜訊因子五分類（AIAG）：① 件間變異　② 時間老化　③ 顧客使用　④ 外部環境　⑤ 系統交互　　│　　標示慣例：位號值前綴「@」＝不上件（DNP）預留位置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系統方塊圖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EPHBE1M-0002 主板 ＋ EPHBE1D-0001 顯示板｜紅＝介面訊號、綠＝電源路徑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31924" y="1463954"/>
            <a:ext cx="880567" cy="684886"/>
          </a:xfrm>
          <a:prstGeom prst="roundRect">
            <a:avLst>
              <a:gd name="adj" fmla="val 8011"/>
            </a:avLst>
          </a:prstGeom>
          <a:solidFill>
            <a:srgbClr val="FEF9E7"/>
          </a:solidFill>
          <a:ln w="15240">
            <a:solidFill>
              <a:srgbClr val="7D660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70" b="1" dirty="0">
                <a:solidFill>
                  <a:srgbClr val="7D66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鋰電池組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5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ER26500 3.6 V／9 Ah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5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Cut-off 2.0 V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5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（不可更換）</a:t>
            </a:r>
            <a:endParaRPr lang="en-US" sz="770" dirty="0"/>
          </a:p>
        </p:txBody>
      </p:sp>
      <p:sp>
        <p:nvSpPr>
          <p:cNvPr id="5" name="Text 3"/>
          <p:cNvSpPr/>
          <p:nvPr/>
        </p:nvSpPr>
        <p:spPr>
          <a:xfrm>
            <a:off x="3795217" y="1366114"/>
            <a:ext cx="1369771" cy="1076249"/>
          </a:xfrm>
          <a:prstGeom prst="roundRect">
            <a:avLst>
              <a:gd name="adj" fmla="val 5098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7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POWER 電源方塊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 TVS（@ 預留）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 TPS7A2033 → 3.3 V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Iq 6.5 µA／壓差 140 mV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R3/R5 1 MΩ 電壓偵測</a:t>
            </a:r>
            <a:endParaRPr lang="en-US" sz="770" dirty="0"/>
          </a:p>
        </p:txBody>
      </p:sp>
      <p:sp>
        <p:nvSpPr>
          <p:cNvPr id="6" name="Text 4"/>
          <p:cNvSpPr/>
          <p:nvPr/>
        </p:nvSpPr>
        <p:spPr>
          <a:xfrm>
            <a:off x="7806690" y="1268273"/>
            <a:ext cx="2250338" cy="1174090"/>
          </a:xfrm>
          <a:prstGeom prst="roundRect">
            <a:avLst>
              <a:gd name="adj" fmla="val 4673"/>
            </a:avLst>
          </a:prstGeom>
          <a:solidFill>
            <a:srgbClr val="FEF9E7"/>
          </a:solidFill>
          <a:ln w="15240">
            <a:solidFill>
              <a:srgbClr val="7D660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9" b="1" dirty="0">
                <a:solidFill>
                  <a:srgbClr val="7D66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顯示板 EPHBE1D-0001</a:t>
            </a:r>
            <a:endParaRPr lang="en-US" sz="8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 BU9795AFV LCD 驅動 IC</a:t>
            </a:r>
            <a:endParaRPr lang="en-US" sz="8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LCM1 LCD-T16214C（24 SEG × 4 COM）</a:t>
            </a:r>
            <a:endParaRPr lang="en-US" sz="8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SW1 磁簧開關（選單切換）</a:t>
            </a:r>
            <a:endParaRPr lang="en-US" sz="829" dirty="0"/>
          </a:p>
        </p:txBody>
      </p:sp>
      <p:sp>
        <p:nvSpPr>
          <p:cNvPr id="7" name="Text 5"/>
          <p:cNvSpPr/>
          <p:nvPr/>
        </p:nvSpPr>
        <p:spPr>
          <a:xfrm>
            <a:off x="2229764" y="2931566"/>
            <a:ext cx="1271930" cy="1271930"/>
          </a:xfrm>
          <a:prstGeom prst="roundRect">
            <a:avLst>
              <a:gd name="adj" fmla="val 4313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7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葉輪感測前端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L1/L2 680 µH（DIP）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C22/C24 200 pF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f0 ≈ 432 kHz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C19 470 nF (ESICOM)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4577944" y="2833726"/>
            <a:ext cx="1565453" cy="1565453"/>
          </a:xfrm>
          <a:prstGeom prst="roundRect">
            <a:avLst>
              <a:gd name="adj" fmla="val 350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9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MCU 方塊</a:t>
            </a:r>
            <a:endParaRPr lang="en-US" sz="8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 MSP430FR5989IPM</a:t>
            </a:r>
            <a:endParaRPr lang="en-US" sz="8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FRAM 128 KB（非揮發）</a:t>
            </a:r>
            <a:endParaRPr lang="en-US" sz="8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ESI 葉輪掃描介面</a:t>
            </a:r>
            <a:endParaRPr lang="en-US" sz="8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Y1 32.768 kHz 時基</a:t>
            </a:r>
            <a:endParaRPr lang="en-US" sz="8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UCA0/UCA1 UART</a:t>
            </a:r>
            <a:endParaRPr lang="en-US" sz="8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UCB0 SPI／JTAG(SBW)</a:t>
            </a:r>
            <a:endParaRPr lang="en-US" sz="829" dirty="0"/>
          </a:p>
        </p:txBody>
      </p:sp>
      <p:sp>
        <p:nvSpPr>
          <p:cNvPr id="9" name="Text 7"/>
          <p:cNvSpPr/>
          <p:nvPr/>
        </p:nvSpPr>
        <p:spPr>
          <a:xfrm>
            <a:off x="6926123" y="3127248"/>
            <a:ext cx="1467612" cy="1271930"/>
          </a:xfrm>
          <a:prstGeom prst="roundRect">
            <a:avLst>
              <a:gd name="adj" fmla="val 4313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7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RS-485 方塊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U5 ADM3485EAR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R42/R49 偏壓（@ 預留）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TVS1/TVS2 突波保護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關斷電流 ≤ 1 µA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8882939" y="2931566"/>
            <a:ext cx="1174090" cy="1663294"/>
          </a:xfrm>
          <a:prstGeom prst="roundRect">
            <a:avLst>
              <a:gd name="adj" fmla="val 4673"/>
            </a:avLst>
          </a:prstGeom>
          <a:solidFill>
            <a:srgbClr val="FEF9E7"/>
          </a:solidFill>
          <a:ln w="15240">
            <a:solidFill>
              <a:srgbClr val="7D660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70" b="1" dirty="0">
                <a:solidFill>
                  <a:srgbClr val="7D66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 Gateway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8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EXT_I/O_2（喚醒）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8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RS485_A／B、GND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8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北水／Fine-tek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8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自定通訊協定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8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J4：1.25 mm 4P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7023964" y="2589124"/>
            <a:ext cx="1369771" cy="440284"/>
          </a:xfrm>
          <a:prstGeom prst="roundRect">
            <a:avLst>
              <a:gd name="adj" fmla="val 12461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8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J3 預留介面</a:t>
            </a:r>
            <a:endParaRPr lang="en-US" sz="68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5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NBIOT_TX／RX（UART）</a:t>
            </a:r>
            <a:endParaRPr lang="en-US" sz="681" dirty="0"/>
          </a:p>
        </p:txBody>
      </p:sp>
      <p:sp>
        <p:nvSpPr>
          <p:cNvPr id="12" name="Text 10"/>
          <p:cNvSpPr/>
          <p:nvPr/>
        </p:nvSpPr>
        <p:spPr>
          <a:xfrm>
            <a:off x="3110332" y="4986223"/>
            <a:ext cx="1369771" cy="782726"/>
          </a:xfrm>
          <a:prstGeom prst="roundRect">
            <a:avLst>
              <a:gd name="adj" fmla="val 7009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7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外部記憶體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 MX25V2033F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5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Mbit SPI NOR Flash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4969307" y="5181905"/>
            <a:ext cx="1174090" cy="684886"/>
          </a:xfrm>
          <a:prstGeom prst="roundRect">
            <a:avLst>
              <a:gd name="adj" fmla="val 8011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4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燒錄／除錯埠</a:t>
            </a:r>
            <a:endParaRPr lang="en-US" sz="74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04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J5：1.27 mm 4P</a:t>
            </a:r>
            <a:endParaRPr lang="en-US" sz="74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04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2-Wire JTAG (SBW)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6632600" y="5084064"/>
            <a:ext cx="1467612" cy="782726"/>
          </a:xfrm>
          <a:prstGeom prst="roundRect">
            <a:avLst>
              <a:gd name="adj" fmla="val 7009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7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光耦隔離輸入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04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Q1（@ 預留）／U3 KPC357NT</a:t>
            </a:r>
            <a:endParaRPr lang="en-US" sz="7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04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R33 887 Ω (If ≈ 2.4 mA)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3012491" y="1806397"/>
            <a:ext cx="782726" cy="0"/>
          </a:xfrm>
          <a:prstGeom prst="line">
            <a:avLst/>
          </a:prstGeom>
          <a:noFill/>
          <a:ln w="1905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73625" y="2442362"/>
            <a:ext cx="0" cy="391363"/>
          </a:xfrm>
          <a:prstGeom prst="line">
            <a:avLst/>
          </a:prstGeom>
          <a:noFill/>
          <a:ln w="1905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67148" y="2442362"/>
            <a:ext cx="0" cy="391363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5898794" y="1757477"/>
            <a:ext cx="0" cy="1076249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</a:ln>
        </p:spPr>
      </p:sp>
      <p:sp>
        <p:nvSpPr>
          <p:cNvPr id="19" name="Shape 17"/>
          <p:cNvSpPr/>
          <p:nvPr/>
        </p:nvSpPr>
        <p:spPr>
          <a:xfrm>
            <a:off x="5898794" y="1757477"/>
            <a:ext cx="1907896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43396" y="2931566"/>
            <a:ext cx="880567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43396" y="3763213"/>
            <a:ext cx="782726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393735" y="3909974"/>
            <a:ext cx="489204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501695" y="3518611"/>
            <a:ext cx="1076249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73625" y="4399178"/>
            <a:ext cx="0" cy="978408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4480103" y="5377586"/>
            <a:ext cx="293522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5556352" y="4399178"/>
            <a:ext cx="0" cy="782726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6926123" y="4741621"/>
            <a:ext cx="0" cy="342443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5947715" y="4741621"/>
            <a:ext cx="978408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947715" y="4399178"/>
            <a:ext cx="0" cy="342443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372143" y="4594860"/>
            <a:ext cx="0" cy="880567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8100212" y="5475427"/>
            <a:ext cx="1271930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777698" y="1580389"/>
            <a:ext cx="1252311" cy="17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68" b="1" dirty="0">
                <a:solidFill>
                  <a:srgbClr val="196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BAT+／BAT−（J1）</a:t>
            </a:r>
            <a:endParaRPr lang="en-US" sz="568" dirty="0"/>
          </a:p>
        </p:txBody>
      </p:sp>
      <p:sp>
        <p:nvSpPr>
          <p:cNvPr id="33" name="Text 31"/>
          <p:cNvSpPr/>
          <p:nvPr/>
        </p:nvSpPr>
        <p:spPr>
          <a:xfrm>
            <a:off x="3933392" y="2548111"/>
            <a:ext cx="791313" cy="179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80" b="1" dirty="0">
                <a:solidFill>
                  <a:srgbClr val="196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VDD_3V3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5140528" y="2549915"/>
            <a:ext cx="1308090" cy="17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7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BAT_DET（1.8 V）</a:t>
            </a:r>
            <a:endParaRPr lang="en-US" sz="557" dirty="0"/>
          </a:p>
        </p:txBody>
      </p:sp>
      <p:sp>
        <p:nvSpPr>
          <p:cNvPr id="35" name="Text 33"/>
          <p:cNvSpPr/>
          <p:nvPr/>
        </p:nvSpPr>
        <p:spPr>
          <a:xfrm>
            <a:off x="4969915" y="1417865"/>
            <a:ext cx="3765654" cy="268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J2（2.54 mm 8P）</a:t>
            </a:r>
            <a:endParaRPr lang="en-US" sz="5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80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LCD_CSB／SCL／SDA／INHb ＋ SWITCH_LCD（3-wire 序列）</a:t>
            </a:r>
            <a:endParaRPr lang="en-US" sz="580" dirty="0"/>
          </a:p>
        </p:txBody>
      </p:sp>
      <p:sp>
        <p:nvSpPr>
          <p:cNvPr id="36" name="Text 34"/>
          <p:cNvSpPr/>
          <p:nvPr/>
        </p:nvSpPr>
        <p:spPr>
          <a:xfrm>
            <a:off x="6005397" y="3409447"/>
            <a:ext cx="1058725" cy="257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5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UART：TX／RX</a:t>
            </a:r>
            <a:endParaRPr lang="en-US" sz="5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45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GPIO：DE、/RE</a:t>
            </a:r>
            <a:endParaRPr lang="en-US" sz="545" dirty="0"/>
          </a:p>
        </p:txBody>
      </p:sp>
      <p:sp>
        <p:nvSpPr>
          <p:cNvPr id="37" name="Text 35"/>
          <p:cNvSpPr/>
          <p:nvPr/>
        </p:nvSpPr>
        <p:spPr>
          <a:xfrm>
            <a:off x="8184440" y="3605128"/>
            <a:ext cx="907793" cy="257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5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J4</a:t>
            </a:r>
            <a:endParaRPr lang="en-US" sz="5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45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RS485_A／B</a:t>
            </a:r>
            <a:endParaRPr lang="en-US" sz="545" dirty="0"/>
          </a:p>
        </p:txBody>
      </p:sp>
      <p:sp>
        <p:nvSpPr>
          <p:cNvPr id="38" name="Text 36"/>
          <p:cNvSpPr/>
          <p:nvPr/>
        </p:nvSpPr>
        <p:spPr>
          <a:xfrm>
            <a:off x="3154455" y="3264153"/>
            <a:ext cx="1770729" cy="17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7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ESICH0／ESICH1／ESICOM</a:t>
            </a:r>
            <a:endParaRPr lang="en-US" sz="557" dirty="0"/>
          </a:p>
        </p:txBody>
      </p:sp>
      <p:sp>
        <p:nvSpPr>
          <p:cNvPr id="39" name="Text 37"/>
          <p:cNvSpPr/>
          <p:nvPr/>
        </p:nvSpPr>
        <p:spPr>
          <a:xfrm>
            <a:off x="3270114" y="3596812"/>
            <a:ext cx="1539410" cy="17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7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（LC 諧振 ≈ 432 kHz）</a:t>
            </a:r>
            <a:endParaRPr lang="en-US" sz="557" dirty="0"/>
          </a:p>
        </p:txBody>
      </p:sp>
      <p:sp>
        <p:nvSpPr>
          <p:cNvPr id="40" name="Text 38"/>
          <p:cNvSpPr/>
          <p:nvPr/>
        </p:nvSpPr>
        <p:spPr>
          <a:xfrm>
            <a:off x="3490588" y="4661809"/>
            <a:ext cx="1209657" cy="257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45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SPI：CS#／SCLK／</a:t>
            </a:r>
            <a:endParaRPr lang="en-US" sz="545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545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SIMO／SOMI</a:t>
            </a:r>
            <a:endParaRPr lang="en-US" sz="545" dirty="0"/>
          </a:p>
        </p:txBody>
      </p:sp>
      <p:sp>
        <p:nvSpPr>
          <p:cNvPr id="41" name="Text 39"/>
          <p:cNvSpPr/>
          <p:nvPr/>
        </p:nvSpPr>
        <p:spPr>
          <a:xfrm>
            <a:off x="5629732" y="4703315"/>
            <a:ext cx="1285123" cy="17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5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SBWTCK／SBWTDIO</a:t>
            </a:r>
            <a:endParaRPr lang="en-US" sz="545" dirty="0"/>
          </a:p>
        </p:txBody>
      </p:sp>
      <p:sp>
        <p:nvSpPr>
          <p:cNvPr id="42" name="Text 40"/>
          <p:cNvSpPr/>
          <p:nvPr/>
        </p:nvSpPr>
        <p:spPr>
          <a:xfrm>
            <a:off x="5592420" y="4517418"/>
            <a:ext cx="1737918" cy="17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5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EXT_WAKE_UP（GPIO 中斷）</a:t>
            </a:r>
            <a:endParaRPr lang="en-US" sz="545" dirty="0"/>
          </a:p>
        </p:txBody>
      </p:sp>
      <p:sp>
        <p:nvSpPr>
          <p:cNvPr id="43" name="Text 41"/>
          <p:cNvSpPr/>
          <p:nvPr/>
        </p:nvSpPr>
        <p:spPr>
          <a:xfrm>
            <a:off x="8055883" y="5251224"/>
            <a:ext cx="1360588" cy="17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5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EXT_I/O_2（喚醒訊號）</a:t>
            </a:r>
            <a:endParaRPr lang="en-US" sz="545" dirty="0"/>
          </a:p>
        </p:txBody>
      </p:sp>
      <p:sp>
        <p:nvSpPr>
          <p:cNvPr id="44" name="Text 42"/>
          <p:cNvSpPr/>
          <p:nvPr/>
        </p:nvSpPr>
        <p:spPr>
          <a:xfrm>
            <a:off x="2131924" y="5909323"/>
            <a:ext cx="6164157" cy="188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9" dirty="0">
                <a:solidFill>
                  <a:srgbClr val="4249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■ 藍框：主板 EPHBE1M-0002 內部方塊　　■ 黃框：主板以外之板卡／模組　　── 紅：方塊間介面訊號　　── 綠：電源路徑</a:t>
            </a:r>
            <a:endParaRPr lang="en-US" sz="639" dirty="0"/>
          </a:p>
        </p:txBody>
      </p:sp>
      <p:sp>
        <p:nvSpPr>
          <p:cNvPr id="45" name="Text 43"/>
          <p:cNvSpPr/>
          <p:nvPr/>
        </p:nvSpPr>
        <p:spPr>
          <a:xfrm>
            <a:off x="502920" y="6199632"/>
            <a:ext cx="11183112" cy="475488"/>
          </a:xfrm>
          <a:prstGeom prst="rect">
            <a:avLst/>
          </a:prstGeom>
          <a:solidFill>
            <a:srgbClr val="FDEBD0"/>
          </a:solidFill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2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介面要點：J1 電池（不可更換）｜J2 顯示板 3-wire｜J3 預留 UART｜J4 外部 Gateway（EXT_I/O_2 喚醒＋RS485_A/B＋GND，北水／Fine-tek 自定協定，經 M12 四芯出線）｜J5 SBW 燒錄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APQP 邊界圖（Boundary Diagram）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虛線框＝系統邊界；E＝能量、I＝資訊、P＝實體接觸；紅虛線＝非預期（雜訊）介面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92327" y="1378604"/>
            <a:ext cx="5204298" cy="3955266"/>
          </a:xfrm>
          <a:prstGeom prst="roundRect">
            <a:avLst>
              <a:gd name="adj" fmla="val 1387"/>
            </a:avLst>
          </a:prstGeom>
          <a:solidFill>
            <a:srgbClr val="FBFCFC"/>
          </a:solidFill>
          <a:ln w="17780">
            <a:solidFill>
              <a:srgbClr val="17202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700499" y="1899034"/>
            <a:ext cx="1040860" cy="624516"/>
          </a:xfrm>
          <a:prstGeom prst="roundRect">
            <a:avLst>
              <a:gd name="adj" fmla="val 8785"/>
            </a:avLst>
          </a:prstGeom>
          <a:solidFill>
            <a:srgbClr val="FEF9E7"/>
          </a:solidFill>
          <a:ln w="15240">
            <a:solidFill>
              <a:srgbClr val="7D660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9" b="1" dirty="0">
                <a:solidFill>
                  <a:srgbClr val="7D66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鋰電池組 ER26500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（不可更換）</a:t>
            </a:r>
            <a:endParaRPr lang="en-US" sz="729" dirty="0"/>
          </a:p>
        </p:txBody>
      </p:sp>
      <p:sp>
        <p:nvSpPr>
          <p:cNvPr id="6" name="Text 4"/>
          <p:cNvSpPr/>
          <p:nvPr/>
        </p:nvSpPr>
        <p:spPr>
          <a:xfrm>
            <a:off x="5053616" y="1899034"/>
            <a:ext cx="1040860" cy="624516"/>
          </a:xfrm>
          <a:prstGeom prst="roundRect">
            <a:avLst>
              <a:gd name="adj" fmla="val 878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9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電源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TPS7A2033</a:t>
            </a:r>
            <a:endParaRPr lang="en-US" sz="729" dirty="0"/>
          </a:p>
        </p:txBody>
      </p:sp>
      <p:sp>
        <p:nvSpPr>
          <p:cNvPr id="7" name="Text 5"/>
          <p:cNvSpPr/>
          <p:nvPr/>
        </p:nvSpPr>
        <p:spPr>
          <a:xfrm>
            <a:off x="6406734" y="1899034"/>
            <a:ext cx="1144946" cy="624516"/>
          </a:xfrm>
          <a:prstGeom prst="roundRect">
            <a:avLst>
              <a:gd name="adj" fmla="val 878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9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顯示板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BU9795＋LCD</a:t>
            </a:r>
            <a:endParaRPr lang="en-US" sz="729" dirty="0"/>
          </a:p>
        </p:txBody>
      </p:sp>
      <p:sp>
        <p:nvSpPr>
          <p:cNvPr id="8" name="Text 6"/>
          <p:cNvSpPr/>
          <p:nvPr/>
        </p:nvSpPr>
        <p:spPr>
          <a:xfrm>
            <a:off x="3700499" y="3148065"/>
            <a:ext cx="1040860" cy="624516"/>
          </a:xfrm>
          <a:prstGeom prst="roundRect">
            <a:avLst>
              <a:gd name="adj" fmla="val 878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9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ESI 感測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L1/L2 諧振</a:t>
            </a:r>
            <a:endParaRPr lang="en-US" sz="729" dirty="0"/>
          </a:p>
        </p:txBody>
      </p:sp>
      <p:sp>
        <p:nvSpPr>
          <p:cNvPr id="9" name="Text 7"/>
          <p:cNvSpPr/>
          <p:nvPr/>
        </p:nvSpPr>
        <p:spPr>
          <a:xfrm>
            <a:off x="5053616" y="3148065"/>
            <a:ext cx="1040860" cy="624516"/>
          </a:xfrm>
          <a:prstGeom prst="roundRect">
            <a:avLst>
              <a:gd name="adj" fmla="val 878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9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MCU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MSP430FR5989</a:t>
            </a:r>
            <a:endParaRPr lang="en-US" sz="729" dirty="0"/>
          </a:p>
        </p:txBody>
      </p:sp>
      <p:sp>
        <p:nvSpPr>
          <p:cNvPr id="10" name="Text 8"/>
          <p:cNvSpPr/>
          <p:nvPr/>
        </p:nvSpPr>
        <p:spPr>
          <a:xfrm>
            <a:off x="6406734" y="3148065"/>
            <a:ext cx="1144946" cy="624516"/>
          </a:xfrm>
          <a:prstGeom prst="roundRect">
            <a:avLst>
              <a:gd name="adj" fmla="val 878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9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RS-485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ADM3485</a:t>
            </a:r>
            <a:endParaRPr lang="en-US" sz="729" dirty="0"/>
          </a:p>
        </p:txBody>
      </p:sp>
      <p:sp>
        <p:nvSpPr>
          <p:cNvPr id="11" name="Text 9"/>
          <p:cNvSpPr/>
          <p:nvPr/>
        </p:nvSpPr>
        <p:spPr>
          <a:xfrm>
            <a:off x="4377058" y="4293011"/>
            <a:ext cx="1040860" cy="624516"/>
          </a:xfrm>
          <a:prstGeom prst="roundRect">
            <a:avLst>
              <a:gd name="adj" fmla="val 878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9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外部記憶體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SPI Flash</a:t>
            </a:r>
            <a:endParaRPr lang="en-US" sz="729" dirty="0"/>
          </a:p>
        </p:txBody>
      </p:sp>
      <p:sp>
        <p:nvSpPr>
          <p:cNvPr id="12" name="Text 10"/>
          <p:cNvSpPr/>
          <p:nvPr/>
        </p:nvSpPr>
        <p:spPr>
          <a:xfrm>
            <a:off x="5730175" y="4293011"/>
            <a:ext cx="1040860" cy="624516"/>
          </a:xfrm>
          <a:prstGeom prst="roundRect">
            <a:avLst>
              <a:gd name="adj" fmla="val 878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9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光耦隔離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KPC357NT</a:t>
            </a:r>
            <a:endParaRPr lang="en-US" sz="729" dirty="0"/>
          </a:p>
        </p:txBody>
      </p:sp>
      <p:sp>
        <p:nvSpPr>
          <p:cNvPr id="13" name="Text 11"/>
          <p:cNvSpPr/>
          <p:nvPr/>
        </p:nvSpPr>
        <p:spPr>
          <a:xfrm>
            <a:off x="2035124" y="1846991"/>
            <a:ext cx="1249031" cy="676559"/>
          </a:xfrm>
          <a:prstGeom prst="roundRect">
            <a:avLst>
              <a:gd name="adj" fmla="val 8109"/>
            </a:avLst>
          </a:prstGeom>
          <a:solidFill>
            <a:srgbClr val="FDEDEC"/>
          </a:solidFill>
          <a:ln w="15240">
            <a:solidFill>
              <a:srgbClr val="94312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9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氣候環境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 −10~55 °C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濕熱 &gt;95%RH</a:t>
            </a:r>
            <a:endParaRPr lang="en-US" sz="729" dirty="0"/>
          </a:p>
        </p:txBody>
      </p:sp>
      <p:sp>
        <p:nvSpPr>
          <p:cNvPr id="14" name="Text 12"/>
          <p:cNvSpPr/>
          <p:nvPr/>
        </p:nvSpPr>
        <p:spPr>
          <a:xfrm>
            <a:off x="2035124" y="3096022"/>
            <a:ext cx="1249031" cy="676559"/>
          </a:xfrm>
          <a:prstGeom prst="roundRect">
            <a:avLst>
              <a:gd name="adj" fmla="val 8109"/>
            </a:avLst>
          </a:prstGeom>
          <a:solidFill>
            <a:srgbClr val="E9F7EF"/>
          </a:solidFill>
          <a:ln w="15240">
            <a:solidFill>
              <a:srgbClr val="196F3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9" b="1" dirty="0">
                <a:solidFill>
                  <a:srgbClr val="196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水流／葉輪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機械能（轉動）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隔錶殼非接觸感測</a:t>
            </a:r>
            <a:endParaRPr lang="en-US" sz="729" dirty="0"/>
          </a:p>
        </p:txBody>
      </p:sp>
      <p:sp>
        <p:nvSpPr>
          <p:cNvPr id="15" name="Text 13"/>
          <p:cNvSpPr/>
          <p:nvPr/>
        </p:nvSpPr>
        <p:spPr>
          <a:xfrm>
            <a:off x="2035124" y="4345054"/>
            <a:ext cx="1249031" cy="780645"/>
          </a:xfrm>
          <a:prstGeom prst="roundRect">
            <a:avLst>
              <a:gd name="adj" fmla="val 7028"/>
            </a:avLst>
          </a:prstGeom>
          <a:solidFill>
            <a:srgbClr val="FDEDEC"/>
          </a:solidFill>
          <a:ln w="15240">
            <a:solidFill>
              <a:srgbClr val="94312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9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外部電磁環境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ESD 6/8 kV（8.13）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EFT／突波（8.11/8.16）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 場／靜磁場 1500 G</a:t>
            </a:r>
            <a:endParaRPr lang="en-US" sz="729" dirty="0"/>
          </a:p>
        </p:txBody>
      </p:sp>
      <p:sp>
        <p:nvSpPr>
          <p:cNvPr id="16" name="Text 14"/>
          <p:cNvSpPr/>
          <p:nvPr/>
        </p:nvSpPr>
        <p:spPr>
          <a:xfrm>
            <a:off x="8904797" y="1846991"/>
            <a:ext cx="1249031" cy="676559"/>
          </a:xfrm>
          <a:prstGeom prst="roundRect">
            <a:avLst>
              <a:gd name="adj" fmla="val 8109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9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抄表員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磁棒切換顯示選單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1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LCD</a:t>
            </a:r>
            <a:endParaRPr lang="en-US" sz="729" dirty="0"/>
          </a:p>
        </p:txBody>
      </p:sp>
      <p:sp>
        <p:nvSpPr>
          <p:cNvPr id="17" name="Text 15"/>
          <p:cNvSpPr/>
          <p:nvPr/>
        </p:nvSpPr>
        <p:spPr>
          <a:xfrm>
            <a:off x="8904797" y="3096022"/>
            <a:ext cx="1249031" cy="884731"/>
          </a:xfrm>
          <a:prstGeom prst="roundRect">
            <a:avLst>
              <a:gd name="adj" fmla="val 6201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9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 Gateway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9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北水／Fine-tek 自定協定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9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喚醒＋RS-485 抄讀</a:t>
            </a:r>
            <a:endParaRPr lang="en-US" sz="729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9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（共地、線長變異）</a:t>
            </a:r>
            <a:endParaRPr lang="en-US" sz="729" dirty="0"/>
          </a:p>
        </p:txBody>
      </p:sp>
      <p:sp>
        <p:nvSpPr>
          <p:cNvPr id="18" name="Text 16"/>
          <p:cNvSpPr/>
          <p:nvPr/>
        </p:nvSpPr>
        <p:spPr>
          <a:xfrm>
            <a:off x="2035124" y="5333870"/>
            <a:ext cx="1249031" cy="624516"/>
          </a:xfrm>
          <a:prstGeom prst="roundRect">
            <a:avLst>
              <a:gd name="adj" fmla="val 878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9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安裝／維護人員</a:t>
            </a:r>
            <a:endParaRPr lang="en-US" sz="69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9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錶體安裝／佈線</a:t>
            </a:r>
            <a:endParaRPr lang="en-US" sz="69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9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（電池不可更換）</a:t>
            </a:r>
            <a:endParaRPr lang="en-US" sz="692" dirty="0"/>
          </a:p>
        </p:txBody>
      </p:sp>
      <p:sp>
        <p:nvSpPr>
          <p:cNvPr id="19" name="Shape 17"/>
          <p:cNvSpPr/>
          <p:nvPr/>
        </p:nvSpPr>
        <p:spPr>
          <a:xfrm>
            <a:off x="4741359" y="2211292"/>
            <a:ext cx="312258" cy="0"/>
          </a:xfrm>
          <a:prstGeom prst="line">
            <a:avLst/>
          </a:prstGeom>
          <a:noFill/>
          <a:ln w="13970">
            <a:solidFill>
              <a:srgbClr val="AAB7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4046" y="2523549"/>
            <a:ext cx="0" cy="624516"/>
          </a:xfrm>
          <a:prstGeom prst="line">
            <a:avLst/>
          </a:prstGeom>
          <a:noFill/>
          <a:ln w="13970">
            <a:solidFill>
              <a:srgbClr val="AAB7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4476" y="2211292"/>
            <a:ext cx="312258" cy="0"/>
          </a:xfrm>
          <a:prstGeom prst="line">
            <a:avLst/>
          </a:prstGeom>
          <a:noFill/>
          <a:ln w="13970">
            <a:solidFill>
              <a:srgbClr val="AAB7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1359" y="3460323"/>
            <a:ext cx="312258" cy="0"/>
          </a:xfrm>
          <a:prstGeom prst="line">
            <a:avLst/>
          </a:prstGeom>
          <a:noFill/>
          <a:ln w="13970">
            <a:solidFill>
              <a:srgbClr val="AAB7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4476" y="3460323"/>
            <a:ext cx="312258" cy="0"/>
          </a:xfrm>
          <a:prstGeom prst="line">
            <a:avLst/>
          </a:prstGeom>
          <a:noFill/>
          <a:ln w="13970">
            <a:solidFill>
              <a:srgbClr val="AAB7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5001573" y="3772581"/>
            <a:ext cx="364301" cy="520430"/>
          </a:xfrm>
          <a:prstGeom prst="line">
            <a:avLst/>
          </a:prstGeom>
          <a:noFill/>
          <a:ln w="13970">
            <a:solidFill>
              <a:srgbClr val="AAB7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82218" y="3772581"/>
            <a:ext cx="312258" cy="520430"/>
          </a:xfrm>
          <a:prstGeom prst="line">
            <a:avLst/>
          </a:prstGeom>
          <a:noFill/>
          <a:ln w="13970">
            <a:solidFill>
              <a:srgbClr val="AAB7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84155" y="2185270"/>
            <a:ext cx="208172" cy="0"/>
          </a:xfrm>
          <a:prstGeom prst="line">
            <a:avLst/>
          </a:prstGeom>
          <a:noFill/>
          <a:ln w="2286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284155" y="3434302"/>
            <a:ext cx="416344" cy="26021"/>
          </a:xfrm>
          <a:prstGeom prst="line">
            <a:avLst/>
          </a:prstGeom>
          <a:noFill/>
          <a:ln w="2286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284155" y="4735376"/>
            <a:ext cx="208172" cy="0"/>
          </a:xfrm>
          <a:prstGeom prst="line">
            <a:avLst/>
          </a:prstGeom>
          <a:noFill/>
          <a:ln w="22860">
            <a:solidFill>
              <a:srgbClr val="943126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7551679" y="2185270"/>
            <a:ext cx="1353117" cy="26021"/>
          </a:xfrm>
          <a:prstGeom prst="line">
            <a:avLst/>
          </a:prstGeom>
          <a:noFill/>
          <a:ln w="22860">
            <a:solidFill>
              <a:srgbClr val="1A5276"/>
            </a:solidFill>
            <a:prstDash val="solid"/>
            <a:headEnd type="triangle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7551679" y="3434302"/>
            <a:ext cx="1353117" cy="26021"/>
          </a:xfrm>
          <a:prstGeom prst="line">
            <a:avLst/>
          </a:prstGeom>
          <a:noFill/>
          <a:ln w="22860">
            <a:solidFill>
              <a:srgbClr val="1A5276"/>
            </a:solidFill>
            <a:prstDash val="solid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529313" y="3980753"/>
            <a:ext cx="0" cy="624516"/>
          </a:xfrm>
          <a:prstGeom prst="line">
            <a:avLst/>
          </a:prstGeom>
          <a:noFill/>
          <a:ln w="22860">
            <a:solidFill>
              <a:srgbClr val="1A527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6771035" y="4605269"/>
            <a:ext cx="2758278" cy="0"/>
          </a:xfrm>
          <a:prstGeom prst="line">
            <a:avLst/>
          </a:prstGeom>
          <a:noFill/>
          <a:ln w="22860">
            <a:solidFill>
              <a:srgbClr val="1A527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3284155" y="5333870"/>
            <a:ext cx="520430" cy="312258"/>
          </a:xfrm>
          <a:prstGeom prst="line">
            <a:avLst/>
          </a:prstGeom>
          <a:noFill/>
          <a:ln w="22860">
            <a:solidFill>
              <a:srgbClr val="1A5276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3301277" y="1454896"/>
            <a:ext cx="5586398" cy="211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9" b="1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系統邊界：EPH 電子水錶（主板 EPHBE1M-0002 ＋ 顯示板 EPHBE1D-0001）</a:t>
            </a:r>
            <a:endParaRPr lang="en-US" sz="789" dirty="0"/>
          </a:p>
        </p:txBody>
      </p:sp>
      <p:sp>
        <p:nvSpPr>
          <p:cNvPr id="35" name="Text 33"/>
          <p:cNvSpPr/>
          <p:nvPr/>
        </p:nvSpPr>
        <p:spPr>
          <a:xfrm>
            <a:off x="3228522" y="1959481"/>
            <a:ext cx="319439" cy="1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656" dirty="0"/>
          </a:p>
        </p:txBody>
      </p:sp>
      <p:sp>
        <p:nvSpPr>
          <p:cNvPr id="36" name="Text 34"/>
          <p:cNvSpPr/>
          <p:nvPr/>
        </p:nvSpPr>
        <p:spPr>
          <a:xfrm>
            <a:off x="3332608" y="3229330"/>
            <a:ext cx="319439" cy="1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6" b="1" dirty="0">
                <a:solidFill>
                  <a:srgbClr val="196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656" dirty="0"/>
          </a:p>
        </p:txBody>
      </p:sp>
      <p:sp>
        <p:nvSpPr>
          <p:cNvPr id="37" name="Text 35"/>
          <p:cNvSpPr/>
          <p:nvPr/>
        </p:nvSpPr>
        <p:spPr>
          <a:xfrm>
            <a:off x="3228522" y="4499179"/>
            <a:ext cx="319439" cy="1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656" dirty="0"/>
          </a:p>
        </p:txBody>
      </p:sp>
      <p:sp>
        <p:nvSpPr>
          <p:cNvPr id="38" name="Text 36"/>
          <p:cNvSpPr/>
          <p:nvPr/>
        </p:nvSpPr>
        <p:spPr>
          <a:xfrm>
            <a:off x="7659745" y="1938664"/>
            <a:ext cx="1136987" cy="1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E＋I（磁場／目視）</a:t>
            </a:r>
            <a:endParaRPr lang="en-US" sz="656" dirty="0"/>
          </a:p>
        </p:txBody>
      </p:sp>
      <p:sp>
        <p:nvSpPr>
          <p:cNvPr id="39" name="Text 37"/>
          <p:cNvSpPr/>
          <p:nvPr/>
        </p:nvSpPr>
        <p:spPr>
          <a:xfrm>
            <a:off x="7341810" y="3187696"/>
            <a:ext cx="1772857" cy="1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I＋E（J4：RS485_A/B）</a:t>
            </a:r>
            <a:endParaRPr lang="en-US" sz="656" dirty="0"/>
          </a:p>
        </p:txBody>
      </p:sp>
      <p:sp>
        <p:nvSpPr>
          <p:cNvPr id="40" name="Text 38"/>
          <p:cNvSpPr/>
          <p:nvPr/>
        </p:nvSpPr>
        <p:spPr>
          <a:xfrm>
            <a:off x="7140261" y="4363867"/>
            <a:ext cx="1863696" cy="1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I（J4：EXT_I/O_2 喚醒）</a:t>
            </a:r>
            <a:endParaRPr lang="en-US" sz="656" dirty="0"/>
          </a:p>
        </p:txBody>
      </p:sp>
      <p:sp>
        <p:nvSpPr>
          <p:cNvPr id="41" name="Text 39"/>
          <p:cNvSpPr/>
          <p:nvPr/>
        </p:nvSpPr>
        <p:spPr>
          <a:xfrm>
            <a:off x="3332608" y="5331866"/>
            <a:ext cx="319439" cy="1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656" dirty="0"/>
          </a:p>
        </p:txBody>
      </p:sp>
      <p:sp>
        <p:nvSpPr>
          <p:cNvPr id="42" name="Text 40"/>
          <p:cNvSpPr/>
          <p:nvPr/>
        </p:nvSpPr>
        <p:spPr>
          <a:xfrm>
            <a:off x="4012757" y="5600871"/>
            <a:ext cx="3054691" cy="298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4249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介面型式：E＝能量傳遞　I＝資訊傳遞　P＝實體接觸</a:t>
            </a:r>
            <a:endParaRPr lang="en-US" sz="6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4249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─── 實線：功能性介面　　--- 虛線：非預期（雜訊）介面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502920" y="6199632"/>
            <a:ext cx="11183112" cy="475488"/>
          </a:xfrm>
          <a:prstGeom prst="rect">
            <a:avLst/>
          </a:prstGeom>
          <a:solidFill>
            <a:srgbClr val="FDEBD0"/>
          </a:solidFill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2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非預期介面（ESD／EFT／突波／RF／靜磁場 1500 G）直接對應 CNPA49 第 8 章測試項，為 DFMEA 失效原因之主要來源。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電源方塊 — 內部方塊圖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TPS7A2033（Iq 6.5 µA）｜低電壓門檻 V_BAT &lt; 3.4 V｜實測 I_avg ≤ 50 µA（壽命 &gt;20 年）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9832" y="2597203"/>
            <a:ext cx="1669121" cy="1001473"/>
          </a:xfrm>
          <a:prstGeom prst="roundRect">
            <a:avLst>
              <a:gd name="adj" fmla="val 5478"/>
            </a:avLst>
          </a:prstGeom>
          <a:solidFill>
            <a:srgbClr val="FEF9E7"/>
          </a:solidFill>
          <a:ln w="15240">
            <a:solidFill>
              <a:srgbClr val="7D660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7D66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J1 電池入口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ER26500 3.6 V／9 Ah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（防呆連接器）</a:t>
            </a:r>
            <a:endParaRPr lang="en-US" sz="1322" dirty="0"/>
          </a:p>
        </p:txBody>
      </p:sp>
      <p:sp>
        <p:nvSpPr>
          <p:cNvPr id="5" name="Text 3"/>
          <p:cNvSpPr/>
          <p:nvPr/>
        </p:nvSpPr>
        <p:spPr>
          <a:xfrm>
            <a:off x="3173514" y="2597203"/>
            <a:ext cx="1669121" cy="1001473"/>
          </a:xfrm>
          <a:prstGeom prst="roundRect">
            <a:avLst>
              <a:gd name="adj" fmla="val 5478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 SMBJ5CA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6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TVS 突波鉗位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6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（@ 預留不上件）</a:t>
            </a:r>
            <a:endParaRPr lang="en-US" sz="1322" dirty="0"/>
          </a:p>
        </p:txBody>
      </p:sp>
      <p:sp>
        <p:nvSpPr>
          <p:cNvPr id="6" name="Text 4"/>
          <p:cNvSpPr/>
          <p:nvPr/>
        </p:nvSpPr>
        <p:spPr>
          <a:xfrm>
            <a:off x="5677196" y="2597203"/>
            <a:ext cx="2002945" cy="1001473"/>
          </a:xfrm>
          <a:prstGeom prst="roundRect">
            <a:avLst>
              <a:gd name="adj" fmla="val 5478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 TPS7A2033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LDO 3.3 V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 輸入旁路 1 µF</a:t>
            </a:r>
            <a:endParaRPr lang="en-US" sz="1322" dirty="0"/>
          </a:p>
        </p:txBody>
      </p:sp>
      <p:sp>
        <p:nvSpPr>
          <p:cNvPr id="7" name="Text 5"/>
          <p:cNvSpPr/>
          <p:nvPr/>
        </p:nvSpPr>
        <p:spPr>
          <a:xfrm>
            <a:off x="8514702" y="2597203"/>
            <a:ext cx="1836033" cy="1001473"/>
          </a:xfrm>
          <a:prstGeom prst="roundRect">
            <a:avLst>
              <a:gd name="adj" fmla="val 5478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C2／C3／C4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輸出複合去耦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10＋1＋0.1 µF</a:t>
            </a:r>
            <a:endParaRPr lang="en-US" sz="1322" dirty="0"/>
          </a:p>
        </p:txBody>
      </p:sp>
      <p:sp>
        <p:nvSpPr>
          <p:cNvPr id="8" name="Text 6"/>
          <p:cNvSpPr/>
          <p:nvPr/>
        </p:nvSpPr>
        <p:spPr>
          <a:xfrm>
            <a:off x="3173514" y="4266324"/>
            <a:ext cx="1836033" cy="1001473"/>
          </a:xfrm>
          <a:prstGeom prst="roundRect">
            <a:avLst>
              <a:gd name="adj" fmla="val 5478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R3／R5 分壓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MΩ＋1 MΩ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增益 0.5</a:t>
            </a:r>
            <a:endParaRPr lang="en-US" sz="1322" dirty="0"/>
          </a:p>
        </p:txBody>
      </p:sp>
      <p:sp>
        <p:nvSpPr>
          <p:cNvPr id="9" name="Text 7"/>
          <p:cNvSpPr/>
          <p:nvPr/>
        </p:nvSpPr>
        <p:spPr>
          <a:xfrm>
            <a:off x="5677196" y="4266324"/>
            <a:ext cx="1669121" cy="1001473"/>
          </a:xfrm>
          <a:prstGeom prst="roundRect">
            <a:avLst>
              <a:gd name="adj" fmla="val 5478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R4＋C5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 低通濾波</a:t>
            </a:r>
            <a:endParaRPr lang="en-US" sz="1322" dirty="0"/>
          </a:p>
        </p:txBody>
      </p:sp>
      <p:sp>
        <p:nvSpPr>
          <p:cNvPr id="10" name="Text 8"/>
          <p:cNvSpPr/>
          <p:nvPr/>
        </p:nvSpPr>
        <p:spPr>
          <a:xfrm>
            <a:off x="8013965" y="4266324"/>
            <a:ext cx="2336770" cy="1001473"/>
          </a:xfrm>
          <a:prstGeom prst="roundRect">
            <a:avLst>
              <a:gd name="adj" fmla="val 5478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BAT_DET 輸出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MCU ADC（A3）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低電壓門檻 &lt;3.4 V（1.70 V）</a:t>
            </a:r>
            <a:endParaRPr lang="en-US" sz="1322" dirty="0"/>
          </a:p>
        </p:txBody>
      </p:sp>
      <p:sp>
        <p:nvSpPr>
          <p:cNvPr id="11" name="Shape 9"/>
          <p:cNvSpPr/>
          <p:nvPr/>
        </p:nvSpPr>
        <p:spPr>
          <a:xfrm>
            <a:off x="2338953" y="3097939"/>
            <a:ext cx="834561" cy="0"/>
          </a:xfrm>
          <a:prstGeom prst="line">
            <a:avLst/>
          </a:prstGeom>
          <a:noFill/>
          <a:ln w="1905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42635" y="3097939"/>
            <a:ext cx="834561" cy="0"/>
          </a:xfrm>
          <a:prstGeom prst="line">
            <a:avLst/>
          </a:prstGeom>
          <a:noFill/>
          <a:ln w="1905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80141" y="3097939"/>
            <a:ext cx="834561" cy="0"/>
          </a:xfrm>
          <a:prstGeom prst="line">
            <a:avLst/>
          </a:prstGeom>
          <a:noFill/>
          <a:ln w="1905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350735" y="3097939"/>
            <a:ext cx="834561" cy="0"/>
          </a:xfrm>
          <a:prstGeom prst="line">
            <a:avLst/>
          </a:prstGeom>
          <a:noFill/>
          <a:ln w="1905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504393" y="3598676"/>
            <a:ext cx="0" cy="1168385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4393" y="4767061"/>
            <a:ext cx="1669121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09547" y="4767061"/>
            <a:ext cx="667648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46317" y="4767061"/>
            <a:ext cx="667648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278041" y="2696320"/>
            <a:ext cx="1146861" cy="23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7" b="1" dirty="0">
                <a:solidFill>
                  <a:srgbClr val="196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VDD_3V3</a:t>
            </a:r>
            <a:endParaRPr lang="en-US" sz="947" dirty="0"/>
          </a:p>
        </p:txBody>
      </p:sp>
      <p:sp>
        <p:nvSpPr>
          <p:cNvPr id="20" name="Text 18"/>
          <p:cNvSpPr/>
          <p:nvPr/>
        </p:nvSpPr>
        <p:spPr>
          <a:xfrm>
            <a:off x="1727262" y="4409502"/>
            <a:ext cx="1223383" cy="24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BAT_VIN</a:t>
            </a:r>
            <a:endParaRPr lang="en-US" sz="1026" dirty="0"/>
          </a:p>
        </p:txBody>
      </p:sp>
      <p:sp>
        <p:nvSpPr>
          <p:cNvPr id="21" name="Text 19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電源方塊 — P 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高風險雜訊：⑤ RS-485 負載突波回灌、④ 濕熱表面漏電（1 MΩ 分壓）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72749" y="1376518"/>
            <a:ext cx="8243455" cy="1442605"/>
          </a:xfrm>
          <a:prstGeom prst="roundRect">
            <a:avLst>
              <a:gd name="adj" fmla="val 3803"/>
            </a:avLst>
          </a:prstGeom>
          <a:solidFill>
            <a:srgbClr val="FDEDEC"/>
          </a:solidFill>
          <a:ln w="15240">
            <a:solidFill>
              <a:srgbClr val="94312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雜訊因子（Noise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件間變異：LDO Vdo／電阻容差、MLCC 容差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時間老化：電池內阻上升、MLCC 容值衰減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顧客使用：抄表頻率、低溫大負載通訊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外部環境：溫度 −10~55 °C、濕熱表面漏電（8.6）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系統交互：RS-485 發射之負載突波回灌</a:t>
            </a:r>
            <a:endParaRPr lang="en-US" sz="1136" dirty="0"/>
          </a:p>
        </p:txBody>
      </p:sp>
      <p:sp>
        <p:nvSpPr>
          <p:cNvPr id="5" name="Text 3"/>
          <p:cNvSpPr/>
          <p:nvPr/>
        </p:nvSpPr>
        <p:spPr>
          <a:xfrm>
            <a:off x="1478141" y="3313730"/>
            <a:ext cx="1813560" cy="1154084"/>
          </a:xfrm>
          <a:prstGeom prst="roundRect">
            <a:avLst>
              <a:gd name="adj" fmla="val 4754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輸入（Input）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電池電能 3.6 V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（ER26500，9.0 Ah）</a:t>
            </a:r>
            <a:endParaRPr lang="en-US" sz="1136" dirty="0"/>
          </a:p>
        </p:txBody>
      </p:sp>
      <p:sp>
        <p:nvSpPr>
          <p:cNvPr id="6" name="Text 4"/>
          <p:cNvSpPr/>
          <p:nvPr/>
        </p:nvSpPr>
        <p:spPr>
          <a:xfrm>
            <a:off x="4280916" y="3272513"/>
            <a:ext cx="2637905" cy="1236518"/>
          </a:xfrm>
          <a:prstGeom prst="roundRect">
            <a:avLst>
              <a:gd name="adj" fmla="val 4437"/>
            </a:avLst>
          </a:prstGeom>
          <a:solidFill>
            <a:srgbClr val="D6E4F0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電源方塊（01 POWER）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8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3.6 V 電池能量 → 穩定 3.3 V 系統電源＋電池電壓資訊</a:t>
            </a:r>
            <a:endParaRPr lang="en-US" sz="1136" dirty="0"/>
          </a:p>
        </p:txBody>
      </p:sp>
      <p:sp>
        <p:nvSpPr>
          <p:cNvPr id="7" name="Text 5"/>
          <p:cNvSpPr/>
          <p:nvPr/>
        </p:nvSpPr>
        <p:spPr>
          <a:xfrm>
            <a:off x="7908036" y="3107644"/>
            <a:ext cx="2802775" cy="1112866"/>
          </a:xfrm>
          <a:prstGeom prst="roundRect">
            <a:avLst>
              <a:gd name="adj" fmla="val 4930"/>
            </a:avLst>
          </a:prstGeom>
          <a:solidFill>
            <a:srgbClr val="E9F7EF"/>
          </a:solidFill>
          <a:ln w="15240">
            <a:solidFill>
              <a:srgbClr val="196F3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96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理想功能／輸出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VDD_3V3 = 3.3 V ± 準確度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靜態電流 ≤ 6.5 µA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低電壓旗標：V_BAT &lt; 3.4 V</a:t>
            </a:r>
            <a:endParaRPr lang="en-US" sz="1136" dirty="0"/>
          </a:p>
        </p:txBody>
      </p:sp>
      <p:sp>
        <p:nvSpPr>
          <p:cNvPr id="8" name="Text 6"/>
          <p:cNvSpPr/>
          <p:nvPr/>
        </p:nvSpPr>
        <p:spPr>
          <a:xfrm>
            <a:off x="7908036" y="4962421"/>
            <a:ext cx="2802775" cy="1154084"/>
          </a:xfrm>
          <a:prstGeom prst="roundRect">
            <a:avLst>
              <a:gd name="adj" fmla="val 4754"/>
            </a:avLst>
          </a:prstGeom>
          <a:solidFill>
            <a:srgbClr val="FEF9E7"/>
          </a:solidFill>
          <a:ln w="15240">
            <a:solidFill>
              <a:srgbClr val="9C640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C64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誤差狀態（Error States）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3.3 V 失調（V_BAT &lt; 3.44 V）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BAT_DET 誤判（漏電／取樣）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突波損壞、上電彈跳重置</a:t>
            </a:r>
            <a:endParaRPr lang="en-US" sz="1136" dirty="0"/>
          </a:p>
        </p:txBody>
      </p:sp>
      <p:sp>
        <p:nvSpPr>
          <p:cNvPr id="9" name="Text 7"/>
          <p:cNvSpPr/>
          <p:nvPr/>
        </p:nvSpPr>
        <p:spPr>
          <a:xfrm>
            <a:off x="3291701" y="5168507"/>
            <a:ext cx="3791989" cy="1154084"/>
          </a:xfrm>
          <a:prstGeom prst="roundRect">
            <a:avLst>
              <a:gd name="adj" fmla="val 4754"/>
            </a:avLst>
          </a:prstGeom>
          <a:solidFill>
            <a:srgbClr val="F4ECF7"/>
          </a:solidFill>
          <a:ln w="15240">
            <a:solidFill>
              <a:srgbClr val="6C348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6C34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控制因子（Control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LDO 選型（Vdo 140 mV／Iq 6.5 µA）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輸出複合去耦 10＋1＋0.1 µF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分壓阻值 1 MΩ（耗電 vs 精度）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 TVS（@ 預留）、0 Ω 量測點</a:t>
            </a:r>
            <a:endParaRPr lang="en-US" sz="1136" dirty="0"/>
          </a:p>
        </p:txBody>
      </p:sp>
      <p:sp>
        <p:nvSpPr>
          <p:cNvPr id="10" name="Shape 8"/>
          <p:cNvSpPr/>
          <p:nvPr/>
        </p:nvSpPr>
        <p:spPr>
          <a:xfrm>
            <a:off x="3291701" y="3890772"/>
            <a:ext cx="989215" cy="0"/>
          </a:xfrm>
          <a:prstGeom prst="line">
            <a:avLst/>
          </a:prstGeom>
          <a:noFill/>
          <a:ln w="22860">
            <a:solidFill>
              <a:srgbClr val="1A52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4476" y="2819123"/>
            <a:ext cx="0" cy="412173"/>
          </a:xfrm>
          <a:prstGeom prst="line">
            <a:avLst/>
          </a:prstGeom>
          <a:noFill/>
          <a:ln w="2286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5187696" y="4550248"/>
            <a:ext cx="0" cy="618259"/>
          </a:xfrm>
          <a:prstGeom prst="line">
            <a:avLst/>
          </a:prstGeom>
          <a:noFill/>
          <a:ln w="22860">
            <a:solidFill>
              <a:srgbClr val="6C348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6918821" y="3643468"/>
            <a:ext cx="989215" cy="41217"/>
          </a:xfrm>
          <a:prstGeom prst="line">
            <a:avLst/>
          </a:prstGeom>
          <a:noFill/>
          <a:ln w="2286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18821" y="4179293"/>
            <a:ext cx="989215" cy="1195301"/>
          </a:xfrm>
          <a:prstGeom prst="line">
            <a:avLst/>
          </a:prstGeom>
          <a:noFill/>
          <a:ln w="22860">
            <a:solidFill>
              <a:srgbClr val="9C640C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MCU 方塊 — 內部方塊圖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MSP430FR5989：FRAM 斷電保存＋ESI 自主計數＋LPM3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01131" y="1263322"/>
            <a:ext cx="2786690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4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GPIO／中斷</a:t>
            </a:r>
            <a:endParaRPr lang="en-US" sz="94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EXT_WAKE_UP、SWITCH_LCD</a:t>
            </a:r>
            <a:endParaRPr lang="en-US" sz="94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LCD 介面 4 線</a:t>
            </a:r>
            <a:endParaRPr lang="en-US" sz="941" dirty="0"/>
          </a:p>
        </p:txBody>
      </p:sp>
      <p:sp>
        <p:nvSpPr>
          <p:cNvPr id="5" name="Text 3"/>
          <p:cNvSpPr/>
          <p:nvPr/>
        </p:nvSpPr>
        <p:spPr>
          <a:xfrm>
            <a:off x="1781742" y="1263322"/>
            <a:ext cx="2255892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1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光耦輸出／磁簧開關</a:t>
            </a:r>
            <a:endParaRPr lang="en-US" sz="91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72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EXT_WAKE_UP</a:t>
            </a:r>
            <a:endParaRPr lang="en-US" sz="91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72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SWITCH_LCD</a:t>
            </a:r>
            <a:endParaRPr lang="en-US" sz="911" dirty="0"/>
          </a:p>
        </p:txBody>
      </p:sp>
      <p:sp>
        <p:nvSpPr>
          <p:cNvPr id="6" name="Text 4"/>
          <p:cNvSpPr/>
          <p:nvPr/>
        </p:nvSpPr>
        <p:spPr>
          <a:xfrm>
            <a:off x="8151318" y="1263322"/>
            <a:ext cx="2255892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1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顯示板 J2</a:t>
            </a:r>
            <a:endParaRPr lang="en-US" sz="91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72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LCD_CSB/SCL/SDA/INHb</a:t>
            </a:r>
            <a:endParaRPr lang="en-US" sz="911" dirty="0"/>
          </a:p>
        </p:txBody>
      </p:sp>
      <p:sp>
        <p:nvSpPr>
          <p:cNvPr id="7" name="Text 5"/>
          <p:cNvSpPr/>
          <p:nvPr/>
        </p:nvSpPr>
        <p:spPr>
          <a:xfrm>
            <a:off x="4701131" y="1926819"/>
            <a:ext cx="2786690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4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ESI 掃描引擎</a:t>
            </a:r>
            <a:endParaRPr lang="en-US" sz="94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LPM3 自主激勵／取樣</a:t>
            </a:r>
            <a:endParaRPr lang="en-US" sz="94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正交解碼 → 計數</a:t>
            </a:r>
            <a:endParaRPr lang="en-US" sz="941" dirty="0"/>
          </a:p>
        </p:txBody>
      </p:sp>
      <p:sp>
        <p:nvSpPr>
          <p:cNvPr id="8" name="Text 6"/>
          <p:cNvSpPr/>
          <p:nvPr/>
        </p:nvSpPr>
        <p:spPr>
          <a:xfrm>
            <a:off x="1781742" y="1926819"/>
            <a:ext cx="2255892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1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葉輪感測前端</a:t>
            </a:r>
            <a:endParaRPr lang="en-US" sz="91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72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ESICH0/ESICH1/ESICOM</a:t>
            </a:r>
            <a:endParaRPr lang="en-US" sz="911" dirty="0"/>
          </a:p>
        </p:txBody>
      </p:sp>
      <p:sp>
        <p:nvSpPr>
          <p:cNvPr id="9" name="Text 7"/>
          <p:cNvSpPr/>
          <p:nvPr/>
        </p:nvSpPr>
        <p:spPr>
          <a:xfrm>
            <a:off x="4701131" y="2590317"/>
            <a:ext cx="2786690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4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FRAM 128 KB</a:t>
            </a:r>
            <a:endParaRPr lang="en-US" sz="94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累計讀數／參數</a:t>
            </a:r>
            <a:endParaRPr lang="en-US" sz="94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斷電保存</a:t>
            </a:r>
            <a:endParaRPr lang="en-US" sz="941" dirty="0"/>
          </a:p>
        </p:txBody>
      </p:sp>
      <p:sp>
        <p:nvSpPr>
          <p:cNvPr id="10" name="Text 8"/>
          <p:cNvSpPr/>
          <p:nvPr/>
        </p:nvSpPr>
        <p:spPr>
          <a:xfrm>
            <a:off x="4701131" y="3253814"/>
            <a:ext cx="2786690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4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RTC／ACLK</a:t>
            </a:r>
            <a:endParaRPr lang="en-US" sz="94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s 時基、排程</a:t>
            </a:r>
            <a:endParaRPr lang="en-US" sz="941" dirty="0"/>
          </a:p>
        </p:txBody>
      </p:sp>
      <p:sp>
        <p:nvSpPr>
          <p:cNvPr id="11" name="Text 9"/>
          <p:cNvSpPr/>
          <p:nvPr/>
        </p:nvSpPr>
        <p:spPr>
          <a:xfrm>
            <a:off x="1781742" y="3253814"/>
            <a:ext cx="2255892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1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Y1 32.768 kHz</a:t>
            </a:r>
            <a:endParaRPr lang="en-US" sz="91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72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LFXIN／LFXOUT</a:t>
            </a:r>
            <a:endParaRPr lang="en-US" sz="911" dirty="0"/>
          </a:p>
        </p:txBody>
      </p:sp>
      <p:sp>
        <p:nvSpPr>
          <p:cNvPr id="12" name="Text 10"/>
          <p:cNvSpPr/>
          <p:nvPr/>
        </p:nvSpPr>
        <p:spPr>
          <a:xfrm>
            <a:off x="4701131" y="3917312"/>
            <a:ext cx="2786690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4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12-bit ADC</a:t>
            </a:r>
            <a:endParaRPr lang="en-US" sz="94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電池電壓量測</a:t>
            </a:r>
            <a:endParaRPr lang="en-US" sz="941" dirty="0"/>
          </a:p>
        </p:txBody>
      </p:sp>
      <p:sp>
        <p:nvSpPr>
          <p:cNvPr id="13" name="Text 11"/>
          <p:cNvSpPr/>
          <p:nvPr/>
        </p:nvSpPr>
        <p:spPr>
          <a:xfrm>
            <a:off x="1781742" y="3917312"/>
            <a:ext cx="2255892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1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電源方塊</a:t>
            </a:r>
            <a:endParaRPr lang="en-US" sz="91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72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BAT_DET（1.8 V）</a:t>
            </a:r>
            <a:endParaRPr lang="en-US" sz="911" dirty="0"/>
          </a:p>
        </p:txBody>
      </p:sp>
      <p:sp>
        <p:nvSpPr>
          <p:cNvPr id="14" name="Text 12"/>
          <p:cNvSpPr/>
          <p:nvPr/>
        </p:nvSpPr>
        <p:spPr>
          <a:xfrm>
            <a:off x="4701131" y="4580809"/>
            <a:ext cx="2786690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4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UART UCA0</a:t>
            </a:r>
            <a:endParaRPr lang="en-US" sz="94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RS485_TX/RX＋DE/RE</a:t>
            </a:r>
            <a:endParaRPr lang="en-US" sz="941" dirty="0"/>
          </a:p>
        </p:txBody>
      </p:sp>
      <p:sp>
        <p:nvSpPr>
          <p:cNvPr id="15" name="Text 13"/>
          <p:cNvSpPr/>
          <p:nvPr/>
        </p:nvSpPr>
        <p:spPr>
          <a:xfrm>
            <a:off x="8151318" y="4580809"/>
            <a:ext cx="2255892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1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RS-485 方塊</a:t>
            </a:r>
            <a:endParaRPr lang="en-US" sz="91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72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J4 → Gateway</a:t>
            </a:r>
            <a:endParaRPr lang="en-US" sz="911" dirty="0"/>
          </a:p>
        </p:txBody>
      </p:sp>
      <p:sp>
        <p:nvSpPr>
          <p:cNvPr id="16" name="Text 14"/>
          <p:cNvSpPr/>
          <p:nvPr/>
        </p:nvSpPr>
        <p:spPr>
          <a:xfrm>
            <a:off x="4701131" y="5244307"/>
            <a:ext cx="2786690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4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UART UCA1／SPI UCB0</a:t>
            </a:r>
            <a:endParaRPr lang="en-US" sz="94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NBIOT_TX/RX（預留）／SPI</a:t>
            </a:r>
            <a:endParaRPr lang="en-US" sz="941" dirty="0"/>
          </a:p>
        </p:txBody>
      </p:sp>
      <p:sp>
        <p:nvSpPr>
          <p:cNvPr id="17" name="Text 15"/>
          <p:cNvSpPr/>
          <p:nvPr/>
        </p:nvSpPr>
        <p:spPr>
          <a:xfrm>
            <a:off x="8151318" y="5244307"/>
            <a:ext cx="2255892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1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J3 預留／U4 Flash</a:t>
            </a:r>
            <a:endParaRPr lang="en-US" sz="91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72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UART（預留）／SPI 4 線</a:t>
            </a:r>
            <a:endParaRPr lang="en-US" sz="911" dirty="0"/>
          </a:p>
        </p:txBody>
      </p:sp>
      <p:sp>
        <p:nvSpPr>
          <p:cNvPr id="18" name="Text 16"/>
          <p:cNvSpPr/>
          <p:nvPr/>
        </p:nvSpPr>
        <p:spPr>
          <a:xfrm>
            <a:off x="4701131" y="5907805"/>
            <a:ext cx="2786690" cy="57060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4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SBW 燒錄埠</a:t>
            </a:r>
            <a:endParaRPr lang="en-US" sz="94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SBWTCK／SBWTDIO</a:t>
            </a:r>
            <a:endParaRPr lang="en-US" sz="941" dirty="0"/>
          </a:p>
        </p:txBody>
      </p:sp>
      <p:sp>
        <p:nvSpPr>
          <p:cNvPr id="19" name="Text 17"/>
          <p:cNvSpPr/>
          <p:nvPr/>
        </p:nvSpPr>
        <p:spPr>
          <a:xfrm>
            <a:off x="1781742" y="5907805"/>
            <a:ext cx="2255892" cy="570608"/>
          </a:xfrm>
          <a:prstGeom prst="roundRect">
            <a:avLst>
              <a:gd name="adj" fmla="val 9615"/>
            </a:avLst>
          </a:prstGeom>
          <a:solidFill>
            <a:srgbClr val="FEF9E7"/>
          </a:solidFill>
          <a:ln w="15240">
            <a:solidFill>
              <a:srgbClr val="7D660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11" b="1" dirty="0">
                <a:solidFill>
                  <a:srgbClr val="7D66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J5（1.27 mm 4P）</a:t>
            </a:r>
            <a:endParaRPr lang="en-US" sz="91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72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2-Wire JTAG</a:t>
            </a:r>
            <a:endParaRPr lang="en-US" sz="911" dirty="0"/>
          </a:p>
        </p:txBody>
      </p:sp>
      <p:sp>
        <p:nvSpPr>
          <p:cNvPr id="20" name="Shape 18"/>
          <p:cNvSpPr/>
          <p:nvPr/>
        </p:nvSpPr>
        <p:spPr>
          <a:xfrm>
            <a:off x="4037634" y="1548626"/>
            <a:ext cx="663498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87821" y="1548626"/>
            <a:ext cx="663498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037634" y="2212123"/>
            <a:ext cx="663498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037634" y="3539118"/>
            <a:ext cx="663498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37634" y="4202616"/>
            <a:ext cx="663498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87821" y="4866113"/>
            <a:ext cx="663498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87821" y="5529611"/>
            <a:ext cx="663498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037634" y="6193109"/>
            <a:ext cx="663498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94476" y="2497427"/>
            <a:ext cx="0" cy="9289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MCU 方塊 — P 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關鍵誤差狀態：資料毀損 → 控制因子 SVS/BOR 低壓禁寫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72749" y="1376518"/>
            <a:ext cx="8243455" cy="1442605"/>
          </a:xfrm>
          <a:prstGeom prst="roundRect">
            <a:avLst>
              <a:gd name="adj" fmla="val 3803"/>
            </a:avLst>
          </a:prstGeom>
          <a:solidFill>
            <a:srgbClr val="FDEDEC"/>
          </a:solidFill>
          <a:ln w="15240">
            <a:solidFill>
              <a:srgbClr val="94312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雜訊因子（Noise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件間變異：晶振 CL／MCU 批次參數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時間老化：晶振老化（ppm/年）、FRAM 寫入壽命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顧客使用：頻繁抄表喚醒、異常斷電事件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外部環境：溫度→晶振拋物線溫漂（式 5-2）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系統交互：電源雜訊、EMC 干擾進入時脈／重置腳</a:t>
            </a:r>
            <a:endParaRPr lang="en-US" sz="1136" dirty="0"/>
          </a:p>
        </p:txBody>
      </p:sp>
      <p:sp>
        <p:nvSpPr>
          <p:cNvPr id="5" name="Text 3"/>
          <p:cNvSpPr/>
          <p:nvPr/>
        </p:nvSpPr>
        <p:spPr>
          <a:xfrm>
            <a:off x="1478141" y="3313730"/>
            <a:ext cx="1813560" cy="1154084"/>
          </a:xfrm>
          <a:prstGeom prst="roundRect">
            <a:avLst>
              <a:gd name="adj" fmla="val 4754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輸入（Input）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VDD_3V3、BAT_DET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ESI 感測訊號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UART 資料、SWITCH_LCD</a:t>
            </a:r>
            <a:endParaRPr lang="en-US" sz="1136" dirty="0"/>
          </a:p>
        </p:txBody>
      </p:sp>
      <p:sp>
        <p:nvSpPr>
          <p:cNvPr id="6" name="Text 4"/>
          <p:cNvSpPr/>
          <p:nvPr/>
        </p:nvSpPr>
        <p:spPr>
          <a:xfrm>
            <a:off x="4280916" y="3272513"/>
            <a:ext cx="2637905" cy="1236518"/>
          </a:xfrm>
          <a:prstGeom prst="roundRect">
            <a:avLst>
              <a:gd name="adj" fmla="val 4437"/>
            </a:avLst>
          </a:prstGeom>
          <a:solidFill>
            <a:srgbClr val="D6E4F0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MCU 方塊（02 MCU）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8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感測／通訊／電量資訊 → 正確累計計量、保存與排程</a:t>
            </a:r>
            <a:endParaRPr lang="en-US" sz="1136" dirty="0"/>
          </a:p>
        </p:txBody>
      </p:sp>
      <p:sp>
        <p:nvSpPr>
          <p:cNvPr id="7" name="Text 5"/>
          <p:cNvSpPr/>
          <p:nvPr/>
        </p:nvSpPr>
        <p:spPr>
          <a:xfrm>
            <a:off x="7908036" y="3107644"/>
            <a:ext cx="2802775" cy="1112866"/>
          </a:xfrm>
          <a:prstGeom prst="roundRect">
            <a:avLst>
              <a:gd name="adj" fmla="val 4930"/>
            </a:avLst>
          </a:prstGeom>
          <a:solidFill>
            <a:srgbClr val="E9F7EF"/>
          </a:solidFill>
          <a:ln w="15240">
            <a:solidFill>
              <a:srgbClr val="196F3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96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理想功能／輸出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累計讀數正確且斷電不失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時基誤差在預算內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通訊／顯示排程正確</a:t>
            </a:r>
            <a:endParaRPr lang="en-US" sz="1136" dirty="0"/>
          </a:p>
        </p:txBody>
      </p:sp>
      <p:sp>
        <p:nvSpPr>
          <p:cNvPr id="8" name="Text 6"/>
          <p:cNvSpPr/>
          <p:nvPr/>
        </p:nvSpPr>
        <p:spPr>
          <a:xfrm>
            <a:off x="7908036" y="4962421"/>
            <a:ext cx="2802775" cy="1154084"/>
          </a:xfrm>
          <a:prstGeom prst="roundRect">
            <a:avLst>
              <a:gd name="adj" fmla="val 4754"/>
            </a:avLst>
          </a:prstGeom>
          <a:solidFill>
            <a:srgbClr val="FEF9E7"/>
          </a:solidFill>
          <a:ln w="15240">
            <a:solidFill>
              <a:srgbClr val="9C640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C64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誤差狀態（Error States）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計數錯誤、資料毀損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非預期重置（BOR／WDT）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時基漂移致時戳誤差</a:t>
            </a:r>
            <a:endParaRPr lang="en-US" sz="1136" dirty="0"/>
          </a:p>
        </p:txBody>
      </p:sp>
      <p:sp>
        <p:nvSpPr>
          <p:cNvPr id="9" name="Text 7"/>
          <p:cNvSpPr/>
          <p:nvPr/>
        </p:nvSpPr>
        <p:spPr>
          <a:xfrm>
            <a:off x="3291701" y="5168507"/>
            <a:ext cx="3791989" cy="1154084"/>
          </a:xfrm>
          <a:prstGeom prst="roundRect">
            <a:avLst>
              <a:gd name="adj" fmla="val 4754"/>
            </a:avLst>
          </a:prstGeom>
          <a:solidFill>
            <a:srgbClr val="F4ECF7"/>
          </a:solidFill>
          <a:ln w="15240">
            <a:solidFill>
              <a:srgbClr val="6C348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6C34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控制因子（Control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FRAM 寫入策略＋SVS/BOR 低壓禁寫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晶振負載電容匹配（式 5-1）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LPM 排程與喚醒源設計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去耦電容佈局、22 Ω 串阻</a:t>
            </a:r>
            <a:endParaRPr lang="en-US" sz="1136" dirty="0"/>
          </a:p>
        </p:txBody>
      </p:sp>
      <p:sp>
        <p:nvSpPr>
          <p:cNvPr id="10" name="Shape 8"/>
          <p:cNvSpPr/>
          <p:nvPr/>
        </p:nvSpPr>
        <p:spPr>
          <a:xfrm>
            <a:off x="3291701" y="3890772"/>
            <a:ext cx="989215" cy="0"/>
          </a:xfrm>
          <a:prstGeom prst="line">
            <a:avLst/>
          </a:prstGeom>
          <a:noFill/>
          <a:ln w="22860">
            <a:solidFill>
              <a:srgbClr val="1A52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4476" y="2819123"/>
            <a:ext cx="0" cy="412173"/>
          </a:xfrm>
          <a:prstGeom prst="line">
            <a:avLst/>
          </a:prstGeom>
          <a:noFill/>
          <a:ln w="2286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5187696" y="4550248"/>
            <a:ext cx="0" cy="618259"/>
          </a:xfrm>
          <a:prstGeom prst="line">
            <a:avLst/>
          </a:prstGeom>
          <a:noFill/>
          <a:ln w="22860">
            <a:solidFill>
              <a:srgbClr val="6C348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6918821" y="3643468"/>
            <a:ext cx="989215" cy="41217"/>
          </a:xfrm>
          <a:prstGeom prst="line">
            <a:avLst/>
          </a:prstGeom>
          <a:noFill/>
          <a:ln w="2286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18821" y="4179293"/>
            <a:ext cx="989215" cy="1195301"/>
          </a:xfrm>
          <a:prstGeom prst="line">
            <a:avLst/>
          </a:prstGeom>
          <a:noFill/>
          <a:ln w="22860">
            <a:solidFill>
              <a:srgbClr val="9C640C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葉輪感測前端（ESI） — 內部方塊圖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LC 諧振 f0 ≈ 432 kHz｜正交雙通道｜f_scan = 500 Hz（f_rot,max 50 圈/s，裕度 2.5 倍）｜C22/C24 已確認 C0G（圖面待補標）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9832" y="2722387"/>
            <a:ext cx="2002945" cy="1502209"/>
          </a:xfrm>
          <a:prstGeom prst="roundRect">
            <a:avLst>
              <a:gd name="adj" fmla="val 3652"/>
            </a:avLst>
          </a:prstGeom>
          <a:solidFill>
            <a:srgbClr val="FEF9E7"/>
          </a:solidFill>
          <a:ln w="15240">
            <a:solidFill>
              <a:srgbClr val="7D660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7D66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葉輪金屬片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6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水流驅動轉動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6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渦流損耗調變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6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諧振電路 Q 值</a:t>
            </a:r>
            <a:endParaRPr lang="en-US" sz="1322" dirty="0"/>
          </a:p>
        </p:txBody>
      </p:sp>
      <p:sp>
        <p:nvSpPr>
          <p:cNvPr id="5" name="Text 3"/>
          <p:cNvSpPr/>
          <p:nvPr/>
        </p:nvSpPr>
        <p:spPr>
          <a:xfrm>
            <a:off x="3674250" y="2472019"/>
            <a:ext cx="2169858" cy="918017"/>
          </a:xfrm>
          <a:prstGeom prst="roundRect">
            <a:avLst>
              <a:gd name="adj" fmla="val 5976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L1＋C22 諧振電路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4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680 µH＋200 pF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4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f0 ≈ 432 kHz</a:t>
            </a:r>
            <a:endParaRPr lang="en-US" sz="1322" dirty="0"/>
          </a:p>
        </p:txBody>
      </p:sp>
      <p:sp>
        <p:nvSpPr>
          <p:cNvPr id="6" name="Text 4"/>
          <p:cNvSpPr/>
          <p:nvPr/>
        </p:nvSpPr>
        <p:spPr>
          <a:xfrm>
            <a:off x="3674250" y="3974228"/>
            <a:ext cx="2169858" cy="918017"/>
          </a:xfrm>
          <a:prstGeom prst="roundRect">
            <a:avLst>
              <a:gd name="adj" fmla="val 5976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L2＋C24 諧振電路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4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相位錯開（正交）</a:t>
            </a:r>
            <a:endParaRPr lang="en-US" sz="1322" dirty="0"/>
          </a:p>
        </p:txBody>
      </p:sp>
      <p:sp>
        <p:nvSpPr>
          <p:cNvPr id="7" name="Text 5"/>
          <p:cNvSpPr/>
          <p:nvPr/>
        </p:nvSpPr>
        <p:spPr>
          <a:xfrm>
            <a:off x="6845581" y="2889299"/>
            <a:ext cx="2169858" cy="1502209"/>
          </a:xfrm>
          <a:prstGeom prst="roundRect">
            <a:avLst>
              <a:gd name="adj" fmla="val 3652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MCU ESI 模組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6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 → 自由振盪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6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包絡取樣＋比較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6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正交解碼／計數</a:t>
            </a:r>
            <a:endParaRPr lang="en-US" sz="1322" dirty="0"/>
          </a:p>
        </p:txBody>
      </p:sp>
      <p:sp>
        <p:nvSpPr>
          <p:cNvPr id="8" name="Text 6"/>
          <p:cNvSpPr/>
          <p:nvPr/>
        </p:nvSpPr>
        <p:spPr>
          <a:xfrm>
            <a:off x="9683087" y="2889299"/>
            <a:ext cx="1836033" cy="1001473"/>
          </a:xfrm>
          <a:prstGeom prst="roundRect">
            <a:avLst>
              <a:gd name="adj" fmla="val 5478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計數暫存器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4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FRAM 累計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4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（LPM3 下自主）</a:t>
            </a:r>
            <a:endParaRPr lang="en-US" sz="1322" dirty="0"/>
          </a:p>
        </p:txBody>
      </p:sp>
      <p:sp>
        <p:nvSpPr>
          <p:cNvPr id="9" name="Text 7"/>
          <p:cNvSpPr/>
          <p:nvPr/>
        </p:nvSpPr>
        <p:spPr>
          <a:xfrm>
            <a:off x="6845581" y="4725333"/>
            <a:ext cx="2169858" cy="667648"/>
          </a:xfrm>
          <a:prstGeom prst="roundRect">
            <a:avLst>
              <a:gd name="adj" fmla="val 8218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4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C19 ESICOM 基準</a:t>
            </a:r>
            <a:endParaRPr lang="en-US" sz="1124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8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470 nF，星狀單點接地</a:t>
            </a:r>
            <a:endParaRPr lang="en-US" sz="1124" dirty="0"/>
          </a:p>
        </p:txBody>
      </p:sp>
      <p:sp>
        <p:nvSpPr>
          <p:cNvPr id="10" name="Shape 8"/>
          <p:cNvSpPr/>
          <p:nvPr/>
        </p:nvSpPr>
        <p:spPr>
          <a:xfrm flipV="1">
            <a:off x="2672778" y="2972755"/>
            <a:ext cx="1001473" cy="500736"/>
          </a:xfrm>
          <a:prstGeom prst="line">
            <a:avLst/>
          </a:prstGeom>
          <a:noFill/>
          <a:ln w="19050">
            <a:solidFill>
              <a:srgbClr val="943126"/>
            </a:solidFill>
            <a:prstDash val="dash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72778" y="3807316"/>
            <a:ext cx="1001473" cy="584192"/>
          </a:xfrm>
          <a:prstGeom prst="line">
            <a:avLst/>
          </a:prstGeom>
          <a:noFill/>
          <a:ln w="19050">
            <a:solidFill>
              <a:srgbClr val="943126"/>
            </a:solidFill>
            <a:prstDash val="dash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44108" y="2931027"/>
            <a:ext cx="1001473" cy="292096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5844108" y="4057684"/>
            <a:ext cx="1001473" cy="375552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7930509" y="4391508"/>
            <a:ext cx="0" cy="333824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9015438" y="3390036"/>
            <a:ext cx="667648" cy="250368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762590" y="2498358"/>
            <a:ext cx="654936" cy="24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磁耦合</a:t>
            </a:r>
            <a:endParaRPr lang="en-US" sz="1026" dirty="0"/>
          </a:p>
        </p:txBody>
      </p:sp>
      <p:sp>
        <p:nvSpPr>
          <p:cNvPr id="17" name="Text 15"/>
          <p:cNvSpPr/>
          <p:nvPr/>
        </p:nvSpPr>
        <p:spPr>
          <a:xfrm>
            <a:off x="5812407" y="2583318"/>
            <a:ext cx="1064874" cy="24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ESICH0</a:t>
            </a:r>
            <a:endParaRPr lang="en-US" sz="1006" dirty="0"/>
          </a:p>
        </p:txBody>
      </p:sp>
      <p:sp>
        <p:nvSpPr>
          <p:cNvPr id="18" name="Text 16"/>
          <p:cNvSpPr/>
          <p:nvPr/>
        </p:nvSpPr>
        <p:spPr>
          <a:xfrm>
            <a:off x="5812407" y="4502807"/>
            <a:ext cx="1064874" cy="24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ESICH1</a:t>
            </a:r>
            <a:endParaRPr lang="en-US" sz="1006" dirty="0"/>
          </a:p>
        </p:txBody>
      </p:sp>
      <p:sp>
        <p:nvSpPr>
          <p:cNvPr id="19" name="Text 17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葉輪感測前端（ESI） — P 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全機雜訊因子最密集之方塊：五類全數有效，多數對應 CNPA49 8.x 測試項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72749" y="1376518"/>
            <a:ext cx="8243455" cy="1442605"/>
          </a:xfrm>
          <a:prstGeom prst="roundRect">
            <a:avLst>
              <a:gd name="adj" fmla="val 3803"/>
            </a:avLst>
          </a:prstGeom>
          <a:solidFill>
            <a:srgbClr val="FDEDEC"/>
          </a:solidFill>
          <a:ln w="15240">
            <a:solidFill>
              <a:srgbClr val="94312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雜訊因子（Noise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件間變異：L ±10%、C 容差 → f0 偏移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時間老化：線圈鏽蝕、三防漆劣化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顧客使用：外加強磁竄改（8.18：1500 G）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外部環境：溫度→f0 漂移、濕熱高阻節點漏電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系統交互：RS-485／Gateway 線纜 EMI 落入 432 kHz 頻段</a:t>
            </a:r>
            <a:endParaRPr lang="en-US" sz="1136" dirty="0"/>
          </a:p>
        </p:txBody>
      </p:sp>
      <p:sp>
        <p:nvSpPr>
          <p:cNvPr id="5" name="Text 3"/>
          <p:cNvSpPr/>
          <p:nvPr/>
        </p:nvSpPr>
        <p:spPr>
          <a:xfrm>
            <a:off x="1478141" y="3313730"/>
            <a:ext cx="1813560" cy="1154084"/>
          </a:xfrm>
          <a:prstGeom prst="roundRect">
            <a:avLst>
              <a:gd name="adj" fmla="val 4754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輸入（Input）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葉輪金屬片位置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（水流機械能）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MCU 激勵脈波</a:t>
            </a:r>
            <a:endParaRPr lang="en-US" sz="1136" dirty="0"/>
          </a:p>
        </p:txBody>
      </p:sp>
      <p:sp>
        <p:nvSpPr>
          <p:cNvPr id="6" name="Text 4"/>
          <p:cNvSpPr/>
          <p:nvPr/>
        </p:nvSpPr>
        <p:spPr>
          <a:xfrm>
            <a:off x="4280916" y="3272513"/>
            <a:ext cx="2637905" cy="1236518"/>
          </a:xfrm>
          <a:prstGeom prst="roundRect">
            <a:avLst>
              <a:gd name="adj" fmla="val 4437"/>
            </a:avLst>
          </a:prstGeom>
          <a:solidFill>
            <a:srgbClr val="D6E4F0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葉輪感測前端（ESI）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8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葉輪轉動（水流）→ 正確之正交計數（流量與流向）</a:t>
            </a:r>
            <a:endParaRPr lang="en-US" sz="1136" dirty="0"/>
          </a:p>
        </p:txBody>
      </p:sp>
      <p:sp>
        <p:nvSpPr>
          <p:cNvPr id="7" name="Text 5"/>
          <p:cNvSpPr/>
          <p:nvPr/>
        </p:nvSpPr>
        <p:spPr>
          <a:xfrm>
            <a:off x="7908036" y="3107644"/>
            <a:ext cx="2802775" cy="1112866"/>
          </a:xfrm>
          <a:prstGeom prst="roundRect">
            <a:avLst>
              <a:gd name="adj" fmla="val 4930"/>
            </a:avLst>
          </a:prstGeom>
          <a:solidFill>
            <a:srgbClr val="E9F7EF"/>
          </a:solidFill>
          <a:ln w="15240">
            <a:solidFill>
              <a:srgbClr val="196F3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96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理想功能／輸出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不漏計、不多計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流向判別正確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無流時計數為零（8.19）</a:t>
            </a:r>
            <a:endParaRPr lang="en-US" sz="1136" dirty="0"/>
          </a:p>
        </p:txBody>
      </p:sp>
      <p:sp>
        <p:nvSpPr>
          <p:cNvPr id="8" name="Text 6"/>
          <p:cNvSpPr/>
          <p:nvPr/>
        </p:nvSpPr>
        <p:spPr>
          <a:xfrm>
            <a:off x="7908036" y="4962421"/>
            <a:ext cx="2802775" cy="1154084"/>
          </a:xfrm>
          <a:prstGeom prst="roundRect">
            <a:avLst>
              <a:gd name="adj" fmla="val 4754"/>
            </a:avLst>
          </a:prstGeom>
          <a:solidFill>
            <a:srgbClr val="FEF9E7"/>
          </a:solidFill>
          <a:ln w="15240">
            <a:solidFill>
              <a:srgbClr val="9C640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C64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誤差狀態（Error States）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漏計（衰減對比不足）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多計／無流爬數（底噪）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方向誤判（相位異常）</a:t>
            </a:r>
            <a:endParaRPr lang="en-US" sz="1136" dirty="0"/>
          </a:p>
        </p:txBody>
      </p:sp>
      <p:sp>
        <p:nvSpPr>
          <p:cNvPr id="9" name="Text 7"/>
          <p:cNvSpPr/>
          <p:nvPr/>
        </p:nvSpPr>
        <p:spPr>
          <a:xfrm>
            <a:off x="3291701" y="5168507"/>
            <a:ext cx="3791989" cy="1154084"/>
          </a:xfrm>
          <a:prstGeom prst="roundRect">
            <a:avLst>
              <a:gd name="adj" fmla="val 4754"/>
            </a:avLst>
          </a:prstGeom>
          <a:solidFill>
            <a:srgbClr val="F4ECF7"/>
          </a:solidFill>
          <a:ln w="15240">
            <a:solidFill>
              <a:srgbClr val="6C348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6C34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控制因子（Control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L/C 值與 C0G 介電質指定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比例式／自適應門檻＋遲滯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ESI ground island 星狀接地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L1/L2 遠離連接器 ≥15 mm、屏蔽</a:t>
            </a:r>
            <a:endParaRPr lang="en-US" sz="1136" dirty="0"/>
          </a:p>
        </p:txBody>
      </p:sp>
      <p:sp>
        <p:nvSpPr>
          <p:cNvPr id="10" name="Shape 8"/>
          <p:cNvSpPr/>
          <p:nvPr/>
        </p:nvSpPr>
        <p:spPr>
          <a:xfrm>
            <a:off x="3291701" y="3890772"/>
            <a:ext cx="989215" cy="0"/>
          </a:xfrm>
          <a:prstGeom prst="line">
            <a:avLst/>
          </a:prstGeom>
          <a:noFill/>
          <a:ln w="22860">
            <a:solidFill>
              <a:srgbClr val="1A52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4476" y="2819123"/>
            <a:ext cx="0" cy="412173"/>
          </a:xfrm>
          <a:prstGeom prst="line">
            <a:avLst/>
          </a:prstGeom>
          <a:noFill/>
          <a:ln w="2286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5187696" y="4550248"/>
            <a:ext cx="0" cy="618259"/>
          </a:xfrm>
          <a:prstGeom prst="line">
            <a:avLst/>
          </a:prstGeom>
          <a:noFill/>
          <a:ln w="22860">
            <a:solidFill>
              <a:srgbClr val="6C348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6918821" y="3643468"/>
            <a:ext cx="989215" cy="41217"/>
          </a:xfrm>
          <a:prstGeom prst="line">
            <a:avLst/>
          </a:prstGeom>
          <a:noFill/>
          <a:ln w="2286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18821" y="4179293"/>
            <a:ext cx="989215" cy="1195301"/>
          </a:xfrm>
          <a:prstGeom prst="line">
            <a:avLst/>
          </a:prstGeom>
          <a:noFill/>
          <a:ln w="22860">
            <a:solidFill>
              <a:srgbClr val="9C640C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外部記憶體（SPI Flash） — 內部方塊圖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MX25V2033F 2 Mbit｜歷史紀錄；即時讀數在 MCU FRAM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74968" y="2944509"/>
            <a:ext cx="2064575" cy="1032287"/>
          </a:xfrm>
          <a:prstGeom prst="roundRect">
            <a:avLst>
              <a:gd name="adj" fmla="val 53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4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MCU UCB0</a:t>
            </a:r>
            <a:endParaRPr lang="en-US" sz="134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4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SPI 主控</a:t>
            </a:r>
            <a:endParaRPr lang="en-US" sz="134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4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CS#/SCLK/SIMO/SOMI</a:t>
            </a:r>
            <a:endParaRPr lang="en-US" sz="1340" dirty="0"/>
          </a:p>
        </p:txBody>
      </p:sp>
      <p:sp>
        <p:nvSpPr>
          <p:cNvPr id="5" name="Text 3"/>
          <p:cNvSpPr/>
          <p:nvPr/>
        </p:nvSpPr>
        <p:spPr>
          <a:xfrm>
            <a:off x="3599782" y="2944509"/>
            <a:ext cx="1720479" cy="1032287"/>
          </a:xfrm>
          <a:prstGeom prst="roundRect">
            <a:avLst>
              <a:gd name="adj" fmla="val 53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4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 Ω 串阻</a:t>
            </a:r>
            <a:endParaRPr lang="en-US" sz="134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源端阻尼／限流</a:t>
            </a:r>
            <a:endParaRPr lang="en-US" sz="1340" dirty="0"/>
          </a:p>
        </p:txBody>
      </p:sp>
      <p:sp>
        <p:nvSpPr>
          <p:cNvPr id="6" name="Text 4"/>
          <p:cNvSpPr/>
          <p:nvPr/>
        </p:nvSpPr>
        <p:spPr>
          <a:xfrm>
            <a:off x="6180500" y="2944509"/>
            <a:ext cx="2236622" cy="1032287"/>
          </a:xfrm>
          <a:prstGeom prst="roundRect">
            <a:avLst>
              <a:gd name="adj" fmla="val 53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4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 MX25V2033F</a:t>
            </a:r>
            <a:endParaRPr lang="en-US" sz="134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Mbit NOR Flash</a:t>
            </a:r>
            <a:endParaRPr lang="en-US" sz="134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深度掉電 ≤ 1 µA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9105314" y="2944509"/>
            <a:ext cx="2408670" cy="1032287"/>
          </a:xfrm>
          <a:prstGeom prst="roundRect">
            <a:avLst>
              <a:gd name="adj" fmla="val 5315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4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資料內容</a:t>
            </a:r>
            <a:endParaRPr lang="en-US" sz="134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歷史用量／事件旗標</a:t>
            </a:r>
            <a:endParaRPr lang="en-US" sz="134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參數備份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3599782" y="4320892"/>
            <a:ext cx="2580718" cy="774215"/>
          </a:xfrm>
          <a:prstGeom prst="roundRect">
            <a:avLst>
              <a:gd name="adj" fmla="val 7086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R35–R37 10 kΩ 上拉</a:t>
            </a:r>
            <a:endParaRPr lang="en-US" sz="112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CS#/SCLK/SI 定態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2739542" y="3460652"/>
            <a:ext cx="860239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20261" y="3460652"/>
            <a:ext cx="860239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417122" y="3460652"/>
            <a:ext cx="688192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5664356" y="3976796"/>
            <a:ext cx="1032287" cy="344096"/>
          </a:xfrm>
          <a:prstGeom prst="line">
            <a:avLst/>
          </a:prstGeom>
          <a:noFill/>
          <a:ln w="19050">
            <a:solidFill>
              <a:srgbClr val="943126"/>
            </a:solidFill>
            <a:prstDash val="dash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外部記憶體（SPI Flash） — P 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關鍵控制：低壓禁寫（配合 SVS＋BAT_DET）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72749" y="1376518"/>
            <a:ext cx="8243455" cy="1442605"/>
          </a:xfrm>
          <a:prstGeom prst="roundRect">
            <a:avLst>
              <a:gd name="adj" fmla="val 3803"/>
            </a:avLst>
          </a:prstGeom>
          <a:solidFill>
            <a:srgbClr val="FDEDEC"/>
          </a:solidFill>
          <a:ln w="15240">
            <a:solidFill>
              <a:srgbClr val="94312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雜訊因子（Noise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件間變異：抹寫壽命個體差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時間老化：資料保持力隨溫度衰減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顧客使用：通訊中斷電池、頻繁事件寫入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外部環境：高溫加速電荷流失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系統交互：SPI 線 EMI、電源軌突波</a:t>
            </a:r>
            <a:endParaRPr lang="en-US" sz="1136" dirty="0"/>
          </a:p>
        </p:txBody>
      </p:sp>
      <p:sp>
        <p:nvSpPr>
          <p:cNvPr id="5" name="Text 3"/>
          <p:cNvSpPr/>
          <p:nvPr/>
        </p:nvSpPr>
        <p:spPr>
          <a:xfrm>
            <a:off x="1478141" y="3313730"/>
            <a:ext cx="1813560" cy="1154084"/>
          </a:xfrm>
          <a:prstGeom prst="roundRect">
            <a:avLst>
              <a:gd name="adj" fmla="val 4754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輸入（Input）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SPI 命令與資料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（UCB0，含 22 Ω 串阻）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VDD_3V3</a:t>
            </a:r>
            <a:endParaRPr lang="en-US" sz="1136" dirty="0"/>
          </a:p>
        </p:txBody>
      </p:sp>
      <p:sp>
        <p:nvSpPr>
          <p:cNvPr id="6" name="Text 4"/>
          <p:cNvSpPr/>
          <p:nvPr/>
        </p:nvSpPr>
        <p:spPr>
          <a:xfrm>
            <a:off x="4280916" y="3272513"/>
            <a:ext cx="2637905" cy="1236518"/>
          </a:xfrm>
          <a:prstGeom prst="roundRect">
            <a:avLst>
              <a:gd name="adj" fmla="val 4437"/>
            </a:avLst>
          </a:prstGeom>
          <a:solidFill>
            <a:srgbClr val="D6E4F0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外部記憶體（SPI Flash）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8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SPI 命令 → 歷史紀錄正確寫入、長期保存</a:t>
            </a:r>
            <a:endParaRPr lang="en-US" sz="1136" dirty="0"/>
          </a:p>
        </p:txBody>
      </p:sp>
      <p:sp>
        <p:nvSpPr>
          <p:cNvPr id="7" name="Text 5"/>
          <p:cNvSpPr/>
          <p:nvPr/>
        </p:nvSpPr>
        <p:spPr>
          <a:xfrm>
            <a:off x="7908036" y="3107644"/>
            <a:ext cx="2802775" cy="1112866"/>
          </a:xfrm>
          <a:prstGeom prst="roundRect">
            <a:avLst>
              <a:gd name="adj" fmla="val 4930"/>
            </a:avLst>
          </a:prstGeom>
          <a:solidFill>
            <a:srgbClr val="E9F7EF"/>
          </a:solidFill>
          <a:ln w="15240">
            <a:solidFill>
              <a:srgbClr val="196F3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96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理想功能／輸出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寫入／讀出資料正確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資料保存 ≥ 20 年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深度掉電 ≤ 1 µA</a:t>
            </a:r>
            <a:endParaRPr lang="en-US" sz="1136" dirty="0"/>
          </a:p>
        </p:txBody>
      </p:sp>
      <p:sp>
        <p:nvSpPr>
          <p:cNvPr id="8" name="Text 6"/>
          <p:cNvSpPr/>
          <p:nvPr/>
        </p:nvSpPr>
        <p:spPr>
          <a:xfrm>
            <a:off x="7908036" y="4962421"/>
            <a:ext cx="2802775" cy="1154084"/>
          </a:xfrm>
          <a:prstGeom prst="roundRect">
            <a:avLst>
              <a:gd name="adj" fmla="val 4754"/>
            </a:avLst>
          </a:prstGeom>
          <a:solidFill>
            <a:srgbClr val="FEF9E7"/>
          </a:solidFill>
          <a:ln w="15240">
            <a:solidFill>
              <a:srgbClr val="9C640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C64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誤差狀態（Error States）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寫入中掉電致資料毀損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誤寫（CS# 浮接誤動作）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抹寫壽命耗盡之壞區</a:t>
            </a:r>
            <a:endParaRPr lang="en-US" sz="1136" dirty="0"/>
          </a:p>
        </p:txBody>
      </p:sp>
      <p:sp>
        <p:nvSpPr>
          <p:cNvPr id="9" name="Text 7"/>
          <p:cNvSpPr/>
          <p:nvPr/>
        </p:nvSpPr>
        <p:spPr>
          <a:xfrm>
            <a:off x="3291701" y="5168507"/>
            <a:ext cx="3791989" cy="1154084"/>
          </a:xfrm>
          <a:prstGeom prst="roundRect">
            <a:avLst>
              <a:gd name="adj" fmla="val 4754"/>
            </a:avLst>
          </a:prstGeom>
          <a:solidFill>
            <a:srgbClr val="F4ECF7"/>
          </a:solidFill>
          <a:ln w="15240">
            <a:solidFill>
              <a:srgbClr val="6C348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6C34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控制因子（Control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低壓禁寫（配合 SVS＋BAT_DET）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CS#/SCLK 10 kΩ 定態上拉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循序日誌＋磨損平均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就近 0.1 µF 去耦</a:t>
            </a:r>
            <a:endParaRPr lang="en-US" sz="1136" dirty="0"/>
          </a:p>
        </p:txBody>
      </p:sp>
      <p:sp>
        <p:nvSpPr>
          <p:cNvPr id="10" name="Shape 8"/>
          <p:cNvSpPr/>
          <p:nvPr/>
        </p:nvSpPr>
        <p:spPr>
          <a:xfrm>
            <a:off x="3291701" y="3890772"/>
            <a:ext cx="989215" cy="0"/>
          </a:xfrm>
          <a:prstGeom prst="line">
            <a:avLst/>
          </a:prstGeom>
          <a:noFill/>
          <a:ln w="22860">
            <a:solidFill>
              <a:srgbClr val="1A52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4476" y="2819123"/>
            <a:ext cx="0" cy="412173"/>
          </a:xfrm>
          <a:prstGeom prst="line">
            <a:avLst/>
          </a:prstGeom>
          <a:noFill/>
          <a:ln w="2286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5187696" y="4550248"/>
            <a:ext cx="0" cy="618259"/>
          </a:xfrm>
          <a:prstGeom prst="line">
            <a:avLst/>
          </a:prstGeom>
          <a:noFill/>
          <a:ln w="22860">
            <a:solidFill>
              <a:srgbClr val="6C348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6918821" y="3643468"/>
            <a:ext cx="989215" cy="41217"/>
          </a:xfrm>
          <a:prstGeom prst="line">
            <a:avLst/>
          </a:prstGeom>
          <a:noFill/>
          <a:ln w="2286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18821" y="4179293"/>
            <a:ext cx="989215" cy="1195301"/>
          </a:xfrm>
          <a:prstGeom prst="line">
            <a:avLst/>
          </a:prstGeom>
          <a:noFill/>
          <a:ln w="22860">
            <a:solidFill>
              <a:srgbClr val="9C640C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顯示方塊 — 內部方塊圖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BU9795AFV＋LCD-T16214C（24 SEG × 4 COM）｜LCD 常時顯示｜SW1 磁簧選單切換（5 選項：總累積／正向／反向／瞬時流量／診斷資訊頁）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9832" y="2722387"/>
            <a:ext cx="1836033" cy="1001473"/>
          </a:xfrm>
          <a:prstGeom prst="roundRect">
            <a:avLst>
              <a:gd name="adj" fmla="val 5478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主板 MCU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2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GPIO 3-wire 介面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2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上拉 @ 預留</a:t>
            </a:r>
            <a:endParaRPr lang="en-US" sz="1322" dirty="0"/>
          </a:p>
        </p:txBody>
      </p:sp>
      <p:sp>
        <p:nvSpPr>
          <p:cNvPr id="5" name="Text 3"/>
          <p:cNvSpPr/>
          <p:nvPr/>
        </p:nvSpPr>
        <p:spPr>
          <a:xfrm>
            <a:off x="3340426" y="2722387"/>
            <a:ext cx="1836033" cy="1001473"/>
          </a:xfrm>
          <a:prstGeom prst="roundRect">
            <a:avLst>
              <a:gd name="adj" fmla="val 5478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J2／J1 排線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2.54 mm 8P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跨板互連</a:t>
            </a:r>
            <a:endParaRPr lang="en-US" sz="1322" dirty="0"/>
          </a:p>
        </p:txBody>
      </p:sp>
      <p:sp>
        <p:nvSpPr>
          <p:cNvPr id="6" name="Text 4"/>
          <p:cNvSpPr/>
          <p:nvPr/>
        </p:nvSpPr>
        <p:spPr>
          <a:xfrm>
            <a:off x="6011020" y="2722387"/>
            <a:ext cx="2169858" cy="1001473"/>
          </a:xfrm>
          <a:prstGeom prst="roundRect">
            <a:avLst>
              <a:gd name="adj" fmla="val 5478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 BU9795AFV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4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段式 LCD 驅動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4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VLCD 偏壓產生</a:t>
            </a:r>
            <a:endParaRPr lang="en-US" sz="1322" dirty="0"/>
          </a:p>
        </p:txBody>
      </p:sp>
      <p:sp>
        <p:nvSpPr>
          <p:cNvPr id="7" name="Text 5"/>
          <p:cNvSpPr/>
          <p:nvPr/>
        </p:nvSpPr>
        <p:spPr>
          <a:xfrm>
            <a:off x="9015438" y="2722387"/>
            <a:ext cx="2169858" cy="1001473"/>
          </a:xfrm>
          <a:prstGeom prst="roundRect">
            <a:avLst>
              <a:gd name="adj" fmla="val 5478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LCM1 玻璃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4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LCD-T16214C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4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 SEG × 4 COM</a:t>
            </a:r>
            <a:endParaRPr lang="en-US" sz="1322" dirty="0"/>
          </a:p>
        </p:txBody>
      </p:sp>
      <p:sp>
        <p:nvSpPr>
          <p:cNvPr id="8" name="Text 6"/>
          <p:cNvSpPr/>
          <p:nvPr/>
        </p:nvSpPr>
        <p:spPr>
          <a:xfrm>
            <a:off x="6011020" y="4474964"/>
            <a:ext cx="2169858" cy="918017"/>
          </a:xfrm>
          <a:prstGeom prst="roundRect">
            <a:avLst>
              <a:gd name="adj" fmla="val 5976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22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SW1 磁簧開關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4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R1 上拉 10 kΩ</a:t>
            </a:r>
            <a:endParaRPr lang="en-US" sz="1322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45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（R2 @ 預留）</a:t>
            </a:r>
            <a:endParaRPr lang="en-US" sz="1322" dirty="0"/>
          </a:p>
        </p:txBody>
      </p:sp>
      <p:sp>
        <p:nvSpPr>
          <p:cNvPr id="9" name="Shape 7"/>
          <p:cNvSpPr/>
          <p:nvPr/>
        </p:nvSpPr>
        <p:spPr>
          <a:xfrm>
            <a:off x="2505865" y="3223124"/>
            <a:ext cx="834561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76459" y="3223124"/>
            <a:ext cx="834561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80877" y="3223124"/>
            <a:ext cx="834561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1587849" y="4933973"/>
            <a:ext cx="4423171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587849" y="3723860"/>
            <a:ext cx="0" cy="1210113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050974" y="2384526"/>
            <a:ext cx="2414937" cy="24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CSB/SCL/SDA/INHb</a:t>
            </a:r>
            <a:endParaRPr lang="en-US" sz="986" dirty="0"/>
          </a:p>
        </p:txBody>
      </p:sp>
      <p:sp>
        <p:nvSpPr>
          <p:cNvPr id="15" name="Text 13"/>
          <p:cNvSpPr/>
          <p:nvPr/>
        </p:nvSpPr>
        <p:spPr>
          <a:xfrm>
            <a:off x="7663982" y="2384526"/>
            <a:ext cx="1868352" cy="24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SEG×24／COM×4</a:t>
            </a:r>
            <a:endParaRPr lang="en-US" sz="986" dirty="0"/>
          </a:p>
        </p:txBody>
      </p:sp>
      <p:sp>
        <p:nvSpPr>
          <p:cNvPr id="16" name="Text 14"/>
          <p:cNvSpPr/>
          <p:nvPr/>
        </p:nvSpPr>
        <p:spPr>
          <a:xfrm>
            <a:off x="2096471" y="4602954"/>
            <a:ext cx="3155558" cy="24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SWITCH_LCD（選單切換，5 選項）</a:t>
            </a:r>
            <a:endParaRPr lang="en-US" sz="1006" dirty="0"/>
          </a:p>
        </p:txBody>
      </p:sp>
      <p:sp>
        <p:nvSpPr>
          <p:cNvPr id="17" name="Text 15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顯示方塊 — P 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磁棒靠近 H 位置約 1 秒後移開切換（B6）；誤換頁 4 分鐘自動復歸不影響功能，受磁事件計入磁干擾天數；玻璃工作溫度 −20~70 °C 與產品宣告 −25 °C 有低溫缺口（DFMEA 待處置）；注意跨板排線 ESD（8.13）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72749" y="1376518"/>
            <a:ext cx="8243455" cy="1442605"/>
          </a:xfrm>
          <a:prstGeom prst="roundRect">
            <a:avLst>
              <a:gd name="adj" fmla="val 3803"/>
            </a:avLst>
          </a:prstGeom>
          <a:solidFill>
            <a:srgbClr val="FDEDEC"/>
          </a:solidFill>
          <a:ln w="15240">
            <a:solidFill>
              <a:srgbClr val="94312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雜訊因子（Noise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件間變異：LCD 玻璃閾值電壓差異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時間老化：LCD 對比衰退、磁簧接點壽命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顧客使用：磁棒操作頻率／角度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外部環境：低溫響應變慢（玻璃 −20 °C 下限 vs 產品 −25 °C）、高溫對比下降、ESD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系統交互：跨板排線拾取／輻射 EMI</a:t>
            </a:r>
            <a:endParaRPr lang="en-US" sz="1136" dirty="0"/>
          </a:p>
        </p:txBody>
      </p:sp>
      <p:sp>
        <p:nvSpPr>
          <p:cNvPr id="5" name="Text 3"/>
          <p:cNvSpPr/>
          <p:nvPr/>
        </p:nvSpPr>
        <p:spPr>
          <a:xfrm>
            <a:off x="1478141" y="3313730"/>
            <a:ext cx="1813560" cy="1154084"/>
          </a:xfrm>
          <a:prstGeom prst="roundRect">
            <a:avLst>
              <a:gd name="adj" fmla="val 4754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輸入（Input）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3-wire 序列顯示資料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SWITCH_LCD（磁簧）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VDD_3V3</a:t>
            </a:r>
            <a:endParaRPr lang="en-US" sz="1136" dirty="0"/>
          </a:p>
        </p:txBody>
      </p:sp>
      <p:sp>
        <p:nvSpPr>
          <p:cNvPr id="6" name="Text 4"/>
          <p:cNvSpPr/>
          <p:nvPr/>
        </p:nvSpPr>
        <p:spPr>
          <a:xfrm>
            <a:off x="4280916" y="3272513"/>
            <a:ext cx="2637905" cy="1236518"/>
          </a:xfrm>
          <a:prstGeom prst="roundRect">
            <a:avLst>
              <a:gd name="adj" fmla="val 4437"/>
            </a:avLst>
          </a:prstGeom>
          <a:solidFill>
            <a:srgbClr val="D6E4F0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顯示方塊（顯示板）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8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顯示資料＋磁棒操作 → 常時正確顯示與換頁</a:t>
            </a:r>
            <a:endParaRPr lang="en-US" sz="1136" dirty="0"/>
          </a:p>
        </p:txBody>
      </p:sp>
      <p:sp>
        <p:nvSpPr>
          <p:cNvPr id="7" name="Text 5"/>
          <p:cNvSpPr/>
          <p:nvPr/>
        </p:nvSpPr>
        <p:spPr>
          <a:xfrm>
            <a:off x="7908036" y="3107644"/>
            <a:ext cx="2802775" cy="1112866"/>
          </a:xfrm>
          <a:prstGeom prst="roundRect">
            <a:avLst>
              <a:gd name="adj" fmla="val 4930"/>
            </a:avLst>
          </a:prstGeom>
          <a:solidFill>
            <a:srgbClr val="E9F7EF"/>
          </a:solidFill>
          <a:ln w="15240">
            <a:solidFill>
              <a:srgbClr val="196F3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96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理想功能／輸出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讀數／圖標常時顯示正確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選單切換（5 選項）可靠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顯示電流 µA 級</a:t>
            </a:r>
            <a:endParaRPr lang="en-US" sz="1136" dirty="0"/>
          </a:p>
        </p:txBody>
      </p:sp>
      <p:sp>
        <p:nvSpPr>
          <p:cNvPr id="8" name="Text 6"/>
          <p:cNvSpPr/>
          <p:nvPr/>
        </p:nvSpPr>
        <p:spPr>
          <a:xfrm>
            <a:off x="7908036" y="4962421"/>
            <a:ext cx="2802775" cy="1154084"/>
          </a:xfrm>
          <a:prstGeom prst="roundRect">
            <a:avLst>
              <a:gd name="adj" fmla="val 4754"/>
            </a:avLst>
          </a:prstGeom>
          <a:solidFill>
            <a:srgbClr val="FEF9E7"/>
          </a:solidFill>
          <a:ln w="15240">
            <a:solidFill>
              <a:srgbClr val="9C640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C64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誤差狀態（Error States）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顯示錯亂／殘影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磁簧誤換頁（4 分鐘自動復歸，影響輕微）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ESD 經跨板線損壞（8.13）</a:t>
            </a:r>
            <a:endParaRPr lang="en-US" sz="1136" dirty="0"/>
          </a:p>
        </p:txBody>
      </p:sp>
      <p:sp>
        <p:nvSpPr>
          <p:cNvPr id="9" name="Text 7"/>
          <p:cNvSpPr/>
          <p:nvPr/>
        </p:nvSpPr>
        <p:spPr>
          <a:xfrm>
            <a:off x="3291701" y="5168507"/>
            <a:ext cx="3791989" cy="1154084"/>
          </a:xfrm>
          <a:prstGeom prst="roundRect">
            <a:avLst>
              <a:gd name="adj" fmla="val 4754"/>
            </a:avLst>
          </a:prstGeom>
          <a:solidFill>
            <a:srgbClr val="F4ECF7"/>
          </a:solidFill>
          <a:ln w="15240">
            <a:solidFill>
              <a:srgbClr val="6C348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6C34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控制因子（Control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BU9795 偏壓與 duty 設定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去彈跳＋長按＋4 分鐘回主畫面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介面線 22 Ω＋100 kΩ 上拉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板上本地去耦 0.1＋10 µF</a:t>
            </a:r>
            <a:endParaRPr lang="en-US" sz="1136" dirty="0"/>
          </a:p>
        </p:txBody>
      </p:sp>
      <p:sp>
        <p:nvSpPr>
          <p:cNvPr id="10" name="Shape 8"/>
          <p:cNvSpPr/>
          <p:nvPr/>
        </p:nvSpPr>
        <p:spPr>
          <a:xfrm>
            <a:off x="3291701" y="3890772"/>
            <a:ext cx="989215" cy="0"/>
          </a:xfrm>
          <a:prstGeom prst="line">
            <a:avLst/>
          </a:prstGeom>
          <a:noFill/>
          <a:ln w="22860">
            <a:solidFill>
              <a:srgbClr val="1A52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4476" y="2819123"/>
            <a:ext cx="0" cy="412173"/>
          </a:xfrm>
          <a:prstGeom prst="line">
            <a:avLst/>
          </a:prstGeom>
          <a:noFill/>
          <a:ln w="2286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5187696" y="4550248"/>
            <a:ext cx="0" cy="618259"/>
          </a:xfrm>
          <a:prstGeom prst="line">
            <a:avLst/>
          </a:prstGeom>
          <a:noFill/>
          <a:ln w="22860">
            <a:solidFill>
              <a:srgbClr val="6C348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6918821" y="3643468"/>
            <a:ext cx="989215" cy="41217"/>
          </a:xfrm>
          <a:prstGeom prst="line">
            <a:avLst/>
          </a:prstGeom>
          <a:noFill/>
          <a:ln w="2286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18821" y="4179293"/>
            <a:ext cx="989215" cy="1195301"/>
          </a:xfrm>
          <a:prstGeom prst="line">
            <a:avLst/>
          </a:prstGeom>
          <a:noFill/>
          <a:ln w="22860">
            <a:solidFill>
              <a:srgbClr val="9C640C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RS-485 通訊方塊 — 內部方塊圖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ADM3485EAR（關斷 ≤1 µA）｜R42/R49 失效保護偏壓 @ 預留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6113" y="2818419"/>
            <a:ext cx="1838320" cy="919160"/>
          </a:xfrm>
          <a:prstGeom prst="roundRect">
            <a:avLst>
              <a:gd name="adj" fmla="val 5969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23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MCU UCA0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4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TX/RX（UART）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4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DE／RE（GPIO）</a:t>
            </a:r>
            <a:endParaRPr lang="en-US" sz="1223" dirty="0"/>
          </a:p>
        </p:txBody>
      </p:sp>
      <p:sp>
        <p:nvSpPr>
          <p:cNvPr id="5" name="Text 3"/>
          <p:cNvSpPr/>
          <p:nvPr/>
        </p:nvSpPr>
        <p:spPr>
          <a:xfrm>
            <a:off x="3260400" y="2818419"/>
            <a:ext cx="1991513" cy="919160"/>
          </a:xfrm>
          <a:prstGeom prst="roundRect">
            <a:avLst>
              <a:gd name="adj" fmla="val 5969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23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U5 ADM3485EAR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4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半雙工收發器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4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C27/C28 本地儲能</a:t>
            </a:r>
            <a:endParaRPr lang="en-US" sz="1223" dirty="0"/>
          </a:p>
        </p:txBody>
      </p:sp>
      <p:sp>
        <p:nvSpPr>
          <p:cNvPr id="6" name="Text 4"/>
          <p:cNvSpPr/>
          <p:nvPr/>
        </p:nvSpPr>
        <p:spPr>
          <a:xfrm>
            <a:off x="6017879" y="2818419"/>
            <a:ext cx="1531933" cy="919160"/>
          </a:xfrm>
          <a:prstGeom prst="roundRect">
            <a:avLst>
              <a:gd name="adj" fmla="val 5969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23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R45／R47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22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 Ω 串阻</a:t>
            </a:r>
            <a:endParaRPr lang="en-US" sz="1223" dirty="0"/>
          </a:p>
        </p:txBody>
      </p:sp>
      <p:sp>
        <p:nvSpPr>
          <p:cNvPr id="7" name="Text 5"/>
          <p:cNvSpPr/>
          <p:nvPr/>
        </p:nvSpPr>
        <p:spPr>
          <a:xfrm>
            <a:off x="8315779" y="2818419"/>
            <a:ext cx="1685126" cy="919160"/>
          </a:xfrm>
          <a:prstGeom prst="roundRect">
            <a:avLst>
              <a:gd name="adj" fmla="val 5969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23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TVS1／TVS2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4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UDD32C05L01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4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SM712 突波鉗位</a:t>
            </a:r>
            <a:endParaRPr lang="en-US" sz="1223" dirty="0"/>
          </a:p>
        </p:txBody>
      </p:sp>
      <p:sp>
        <p:nvSpPr>
          <p:cNvPr id="8" name="Text 6"/>
          <p:cNvSpPr/>
          <p:nvPr/>
        </p:nvSpPr>
        <p:spPr>
          <a:xfrm>
            <a:off x="10613679" y="2818419"/>
            <a:ext cx="919160" cy="919160"/>
          </a:xfrm>
          <a:prstGeom prst="roundRect">
            <a:avLst>
              <a:gd name="adj" fmla="val 5969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23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J4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6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A／B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6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GND</a:t>
            </a:r>
            <a:endParaRPr lang="en-US" sz="1223" dirty="0"/>
          </a:p>
        </p:txBody>
      </p:sp>
      <p:sp>
        <p:nvSpPr>
          <p:cNvPr id="9" name="Text 7"/>
          <p:cNvSpPr/>
          <p:nvPr/>
        </p:nvSpPr>
        <p:spPr>
          <a:xfrm>
            <a:off x="3260400" y="4426949"/>
            <a:ext cx="2297900" cy="842563"/>
          </a:xfrm>
          <a:prstGeom prst="roundRect">
            <a:avLst>
              <a:gd name="adj" fmla="val 6512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77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R42／R49 4.7 kΩ</a:t>
            </a:r>
            <a:endParaRPr lang="en-US" sz="1077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失效保護偏壓</a:t>
            </a:r>
            <a:endParaRPr lang="en-US" sz="1077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（@ 預留不上件）</a:t>
            </a:r>
            <a:endParaRPr lang="en-US" sz="1077" dirty="0"/>
          </a:p>
        </p:txBody>
      </p:sp>
      <p:sp>
        <p:nvSpPr>
          <p:cNvPr id="10" name="Shape 8"/>
          <p:cNvSpPr/>
          <p:nvPr/>
        </p:nvSpPr>
        <p:spPr>
          <a:xfrm>
            <a:off x="2494433" y="3277999"/>
            <a:ext cx="765967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51913" y="3277999"/>
            <a:ext cx="765967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49812" y="3277999"/>
            <a:ext cx="765967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000906" y="3277999"/>
            <a:ext cx="612773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5098719" y="3737579"/>
            <a:ext cx="1378740" cy="689370"/>
          </a:xfrm>
          <a:prstGeom prst="line">
            <a:avLst/>
          </a:prstGeom>
          <a:noFill/>
          <a:ln w="19050">
            <a:solidFill>
              <a:srgbClr val="943126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612593" y="2502610"/>
            <a:ext cx="1389398" cy="233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1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RS485_A/B</a:t>
            </a:r>
            <a:endParaRPr lang="en-US" sz="931" dirty="0"/>
          </a:p>
        </p:txBody>
      </p:sp>
      <p:sp>
        <p:nvSpPr>
          <p:cNvPr id="16" name="Text 14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RS-485 通訊方塊 — P 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已知課題：共地耦合干擾 ESI（機制 #1）；已決策禁用終端電阻（式 9-3）、R42/R49 維持不上件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72749" y="1376518"/>
            <a:ext cx="8243455" cy="1442605"/>
          </a:xfrm>
          <a:prstGeom prst="roundRect">
            <a:avLst>
              <a:gd name="adj" fmla="val 3803"/>
            </a:avLst>
          </a:prstGeom>
          <a:solidFill>
            <a:srgbClr val="FDEDEC"/>
          </a:solidFill>
          <a:ln w="15240">
            <a:solidFill>
              <a:srgbClr val="94312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雜訊因子（Noise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件間變異：收發器門檻／偏壓電阻容差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時間老化：TVS 劣化、連接器接觸阻抗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顧客使用：匯流排長度／節點數／加終端電阻（式 9-3）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外部環境：EFT（8.11）、突波（8.16）、ESD（8.13）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系統交互：對端接地雜訊經共地耦合（機制 #1）</a:t>
            </a:r>
            <a:endParaRPr lang="en-US" sz="1136" dirty="0"/>
          </a:p>
        </p:txBody>
      </p:sp>
      <p:sp>
        <p:nvSpPr>
          <p:cNvPr id="5" name="Text 3"/>
          <p:cNvSpPr/>
          <p:nvPr/>
        </p:nvSpPr>
        <p:spPr>
          <a:xfrm>
            <a:off x="1478141" y="3313730"/>
            <a:ext cx="1813560" cy="1154084"/>
          </a:xfrm>
          <a:prstGeom prst="roundRect">
            <a:avLst>
              <a:gd name="adj" fmla="val 4754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輸入（Input）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UART TX/RX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DE／RE 方向控制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匯流排 A/B 差動訊號</a:t>
            </a:r>
            <a:endParaRPr lang="en-US" sz="1136" dirty="0"/>
          </a:p>
        </p:txBody>
      </p:sp>
      <p:sp>
        <p:nvSpPr>
          <p:cNvPr id="6" name="Text 4"/>
          <p:cNvSpPr/>
          <p:nvPr/>
        </p:nvSpPr>
        <p:spPr>
          <a:xfrm>
            <a:off x="4280916" y="3272513"/>
            <a:ext cx="2637905" cy="1236518"/>
          </a:xfrm>
          <a:prstGeom prst="roundRect">
            <a:avLst>
              <a:gd name="adj" fmla="val 4437"/>
            </a:avLst>
          </a:prstGeom>
          <a:solidFill>
            <a:srgbClr val="D6E4F0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RS-485 通訊方塊（03 RS-485）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8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UART 資料 ↔ 匯流排差動訊號（半雙工抄表）</a:t>
            </a:r>
            <a:endParaRPr lang="en-US" sz="1136" dirty="0"/>
          </a:p>
        </p:txBody>
      </p:sp>
      <p:sp>
        <p:nvSpPr>
          <p:cNvPr id="7" name="Text 5"/>
          <p:cNvSpPr/>
          <p:nvPr/>
        </p:nvSpPr>
        <p:spPr>
          <a:xfrm>
            <a:off x="7908036" y="3107644"/>
            <a:ext cx="2802775" cy="1112866"/>
          </a:xfrm>
          <a:prstGeom prst="roundRect">
            <a:avLst>
              <a:gd name="adj" fmla="val 4930"/>
            </a:avLst>
          </a:prstGeom>
          <a:solidFill>
            <a:srgbClr val="E9F7EF"/>
          </a:solidFill>
          <a:ln w="15240">
            <a:solidFill>
              <a:srgbClr val="196F3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96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理想功能／輸出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收發資料正確無誤碼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空閒時 RO 穩定（fail-safe）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關斷電流 ≤ 1 µA</a:t>
            </a:r>
            <a:endParaRPr lang="en-US" sz="1136" dirty="0"/>
          </a:p>
        </p:txBody>
      </p:sp>
      <p:sp>
        <p:nvSpPr>
          <p:cNvPr id="8" name="Text 6"/>
          <p:cNvSpPr/>
          <p:nvPr/>
        </p:nvSpPr>
        <p:spPr>
          <a:xfrm>
            <a:off x="7908036" y="4962421"/>
            <a:ext cx="2802775" cy="1154084"/>
          </a:xfrm>
          <a:prstGeom prst="roundRect">
            <a:avLst>
              <a:gd name="adj" fmla="val 4754"/>
            </a:avLst>
          </a:prstGeom>
          <a:solidFill>
            <a:srgbClr val="FEF9E7"/>
          </a:solidFill>
          <a:ln w="15240">
            <a:solidFill>
              <a:srgbClr val="9C640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C64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誤差狀態（Error States）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誤碼／通訊中斷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共模雜訊灌入 DGND 干擾 ESI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突波／ESD 損壞收發器</a:t>
            </a:r>
            <a:endParaRPr lang="en-US" sz="1136" dirty="0"/>
          </a:p>
        </p:txBody>
      </p:sp>
      <p:sp>
        <p:nvSpPr>
          <p:cNvPr id="9" name="Text 7"/>
          <p:cNvSpPr/>
          <p:nvPr/>
        </p:nvSpPr>
        <p:spPr>
          <a:xfrm>
            <a:off x="3291701" y="5168507"/>
            <a:ext cx="3791989" cy="1154084"/>
          </a:xfrm>
          <a:prstGeom prst="roundRect">
            <a:avLst>
              <a:gd name="adj" fmla="val 4754"/>
            </a:avLst>
          </a:prstGeom>
          <a:solidFill>
            <a:srgbClr val="F4ECF7"/>
          </a:solidFill>
          <a:ln w="15240">
            <a:solidFill>
              <a:srgbClr val="6C348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6C34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控制因子（Control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fail-safe 偏壓 R42/R49（@ 預留，式 9-1）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TVS 兩級協調（SM712＋UDD32C）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本地儲能 10 µF＋0.1 µF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改善：CMC＋低電容 TVS（B1/A3）</a:t>
            </a:r>
            <a:endParaRPr lang="en-US" sz="1136" dirty="0"/>
          </a:p>
        </p:txBody>
      </p:sp>
      <p:sp>
        <p:nvSpPr>
          <p:cNvPr id="10" name="Shape 8"/>
          <p:cNvSpPr/>
          <p:nvPr/>
        </p:nvSpPr>
        <p:spPr>
          <a:xfrm>
            <a:off x="3291701" y="3890772"/>
            <a:ext cx="989215" cy="0"/>
          </a:xfrm>
          <a:prstGeom prst="line">
            <a:avLst/>
          </a:prstGeom>
          <a:noFill/>
          <a:ln w="22860">
            <a:solidFill>
              <a:srgbClr val="1A52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4476" y="2819123"/>
            <a:ext cx="0" cy="412173"/>
          </a:xfrm>
          <a:prstGeom prst="line">
            <a:avLst/>
          </a:prstGeom>
          <a:noFill/>
          <a:ln w="2286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5187696" y="4550248"/>
            <a:ext cx="0" cy="618259"/>
          </a:xfrm>
          <a:prstGeom prst="line">
            <a:avLst/>
          </a:prstGeom>
          <a:noFill/>
          <a:ln w="22860">
            <a:solidFill>
              <a:srgbClr val="6C348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6918821" y="3643468"/>
            <a:ext cx="989215" cy="41217"/>
          </a:xfrm>
          <a:prstGeom prst="line">
            <a:avLst/>
          </a:prstGeom>
          <a:noFill/>
          <a:ln w="2286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18821" y="4179293"/>
            <a:ext cx="989215" cy="1195301"/>
          </a:xfrm>
          <a:prstGeom prst="line">
            <a:avLst/>
          </a:prstGeom>
          <a:noFill/>
          <a:ln w="22860">
            <a:solidFill>
              <a:srgbClr val="9C640C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光耦隔離輸入 — 內部方塊圖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KPC357NT0B（CTR Rank B 130~260%）｜Gateway 位準 3.3~3.6 V → If ≈ 2.37~2.71 mA｜Q1／R50／R51 @ 預留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6113" y="2971612"/>
            <a:ext cx="1991513" cy="919160"/>
          </a:xfrm>
          <a:prstGeom prst="roundRect">
            <a:avLst>
              <a:gd name="adj" fmla="val 5969"/>
            </a:avLst>
          </a:prstGeom>
          <a:solidFill>
            <a:srgbClr val="FEF9E7"/>
          </a:solidFill>
          <a:ln w="15240">
            <a:solidFill>
              <a:srgbClr val="7D660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23" b="1" dirty="0">
                <a:solidFill>
                  <a:srgbClr val="7D66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J4：EXT_I/O_2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4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喚醒訊號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49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TVS3 入口鉗位</a:t>
            </a:r>
            <a:endParaRPr lang="en-US" sz="1223" dirty="0"/>
          </a:p>
        </p:txBody>
      </p:sp>
      <p:sp>
        <p:nvSpPr>
          <p:cNvPr id="5" name="Text 3"/>
          <p:cNvSpPr/>
          <p:nvPr/>
        </p:nvSpPr>
        <p:spPr>
          <a:xfrm>
            <a:off x="3413593" y="2971612"/>
            <a:ext cx="1531933" cy="919160"/>
          </a:xfrm>
          <a:prstGeom prst="roundRect">
            <a:avLst>
              <a:gd name="adj" fmla="val 5969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23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 SGS2321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位準保護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（@ 預留）</a:t>
            </a:r>
            <a:endParaRPr lang="en-US" sz="1223" dirty="0"/>
          </a:p>
        </p:txBody>
      </p:sp>
      <p:sp>
        <p:nvSpPr>
          <p:cNvPr id="6" name="Text 4"/>
          <p:cNvSpPr/>
          <p:nvPr/>
        </p:nvSpPr>
        <p:spPr>
          <a:xfrm>
            <a:off x="5711493" y="2971612"/>
            <a:ext cx="1685126" cy="919160"/>
          </a:xfrm>
          <a:prstGeom prst="roundRect">
            <a:avLst>
              <a:gd name="adj" fmla="val 5969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23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R33 887 Ω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6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LED 限流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6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If ≈ 2.37 mA</a:t>
            </a:r>
            <a:endParaRPr lang="en-US" sz="1223" dirty="0"/>
          </a:p>
        </p:txBody>
      </p:sp>
      <p:sp>
        <p:nvSpPr>
          <p:cNvPr id="7" name="Text 5"/>
          <p:cNvSpPr/>
          <p:nvPr/>
        </p:nvSpPr>
        <p:spPr>
          <a:xfrm>
            <a:off x="8162586" y="2971612"/>
            <a:ext cx="1685126" cy="919160"/>
          </a:xfrm>
          <a:prstGeom prst="roundRect">
            <a:avLst>
              <a:gd name="adj" fmla="val 5969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23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 KPC357NT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22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光耦隔離</a:t>
            </a:r>
            <a:endParaRPr lang="en-US" sz="1223" dirty="0"/>
          </a:p>
        </p:txBody>
      </p:sp>
      <p:sp>
        <p:nvSpPr>
          <p:cNvPr id="8" name="Text 6"/>
          <p:cNvSpPr/>
          <p:nvPr/>
        </p:nvSpPr>
        <p:spPr>
          <a:xfrm>
            <a:off x="10613679" y="2971612"/>
            <a:ext cx="919160" cy="919160"/>
          </a:xfrm>
          <a:prstGeom prst="roundRect">
            <a:avLst>
              <a:gd name="adj" fmla="val 5969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23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MCU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6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GPIO</a:t>
            </a:r>
            <a:endParaRPr lang="en-US" sz="1223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6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中斷</a:t>
            </a:r>
            <a:endParaRPr lang="en-US" sz="1223" dirty="0"/>
          </a:p>
        </p:txBody>
      </p:sp>
      <p:sp>
        <p:nvSpPr>
          <p:cNvPr id="9" name="Text 7"/>
          <p:cNvSpPr/>
          <p:nvPr/>
        </p:nvSpPr>
        <p:spPr>
          <a:xfrm>
            <a:off x="3413593" y="4350352"/>
            <a:ext cx="3983026" cy="765967"/>
          </a:xfrm>
          <a:prstGeom prst="roundRect">
            <a:avLst>
              <a:gd name="adj" fmla="val 7163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77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 磁珠／C29 濾波（R50・R51 @ 預留）</a:t>
            </a:r>
            <a:endParaRPr lang="en-US" sz="1077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1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高頻抑制與定態偏壓</a:t>
            </a:r>
            <a:endParaRPr lang="en-US" sz="1077" dirty="0"/>
          </a:p>
        </p:txBody>
      </p:sp>
      <p:sp>
        <p:nvSpPr>
          <p:cNvPr id="10" name="Shape 8"/>
          <p:cNvSpPr/>
          <p:nvPr/>
        </p:nvSpPr>
        <p:spPr>
          <a:xfrm>
            <a:off x="2647626" y="3431192"/>
            <a:ext cx="765967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45526" y="3431192"/>
            <a:ext cx="765967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96619" y="3431192"/>
            <a:ext cx="765967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847712" y="3431192"/>
            <a:ext cx="765967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4179560" y="3890772"/>
            <a:ext cx="1225547" cy="459580"/>
          </a:xfrm>
          <a:prstGeom prst="line">
            <a:avLst/>
          </a:prstGeom>
          <a:noFill/>
          <a:ln w="19050">
            <a:solidFill>
              <a:srgbClr val="943126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420928" y="2611236"/>
            <a:ext cx="1619534" cy="230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3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EXT_WAKE_UP</a:t>
            </a:r>
            <a:endParaRPr lang="en-US" sz="913" dirty="0"/>
          </a:p>
        </p:txBody>
      </p:sp>
      <p:sp>
        <p:nvSpPr>
          <p:cNvPr id="16" name="Text 14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光耦隔離輸入 — P 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誤喚醒＝電池壽命殺手（不可更換）：去彈跳＋通訊逾時返回睡眠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72749" y="1376518"/>
            <a:ext cx="8243455" cy="1442605"/>
          </a:xfrm>
          <a:prstGeom prst="roundRect">
            <a:avLst>
              <a:gd name="adj" fmla="val 3803"/>
            </a:avLst>
          </a:prstGeom>
          <a:solidFill>
            <a:srgbClr val="FDEDEC"/>
          </a:solidFill>
          <a:ln w="15240">
            <a:solidFill>
              <a:srgbClr val="94312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雜訊因子（Noise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件間變異：光耦 CTR 個體分佈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時間老化：LED 光衰 → CTR 逐年下降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顧客使用：外部線長與對端設備品質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外部環境：EFT／突波直灌（8.11/8.16）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系統交互：EXT_I/O_2 未隔離直連路徑（機制 #6）</a:t>
            </a:r>
            <a:endParaRPr lang="en-US" sz="1136" dirty="0"/>
          </a:p>
        </p:txBody>
      </p:sp>
      <p:sp>
        <p:nvSpPr>
          <p:cNvPr id="5" name="Text 3"/>
          <p:cNvSpPr/>
          <p:nvPr/>
        </p:nvSpPr>
        <p:spPr>
          <a:xfrm>
            <a:off x="1478141" y="3313730"/>
            <a:ext cx="1813560" cy="1154084"/>
          </a:xfrm>
          <a:prstGeom prst="roundRect">
            <a:avLst>
              <a:gd name="adj" fmla="val 4754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輸入（Input）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EXT_I/O_1／EXT_I/O_2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（外部設備觸發，3.3~3.6 V）</a:t>
            </a:r>
            <a:endParaRPr lang="en-US" sz="1136" dirty="0"/>
          </a:p>
        </p:txBody>
      </p:sp>
      <p:sp>
        <p:nvSpPr>
          <p:cNvPr id="6" name="Text 4"/>
          <p:cNvSpPr/>
          <p:nvPr/>
        </p:nvSpPr>
        <p:spPr>
          <a:xfrm>
            <a:off x="4280916" y="3272513"/>
            <a:ext cx="2637905" cy="1236518"/>
          </a:xfrm>
          <a:prstGeom prst="roundRect">
            <a:avLst>
              <a:gd name="adj" fmla="val 4437"/>
            </a:avLst>
          </a:prstGeom>
          <a:solidFill>
            <a:srgbClr val="D6E4F0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光耦隔離輸入（EXT I/O）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8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外部觸發訊號 → 隔離後之可靠喚醒中斷</a:t>
            </a:r>
            <a:endParaRPr lang="en-US" sz="1136" dirty="0"/>
          </a:p>
        </p:txBody>
      </p:sp>
      <p:sp>
        <p:nvSpPr>
          <p:cNvPr id="7" name="Text 5"/>
          <p:cNvSpPr/>
          <p:nvPr/>
        </p:nvSpPr>
        <p:spPr>
          <a:xfrm>
            <a:off x="7908036" y="3107644"/>
            <a:ext cx="2802775" cy="1112866"/>
          </a:xfrm>
          <a:prstGeom prst="roundRect">
            <a:avLst>
              <a:gd name="adj" fmla="val 4930"/>
            </a:avLst>
          </a:prstGeom>
          <a:solidFill>
            <a:srgbClr val="E9F7EF"/>
          </a:solidFill>
          <a:ln w="15240">
            <a:solidFill>
              <a:srgbClr val="196F3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96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理想功能／輸出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正確產生 EXT_WAKE_UP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電氣隔離外部雜訊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待機零額外耗電</a:t>
            </a:r>
            <a:endParaRPr lang="en-US" sz="1136" dirty="0"/>
          </a:p>
        </p:txBody>
      </p:sp>
      <p:sp>
        <p:nvSpPr>
          <p:cNvPr id="8" name="Text 6"/>
          <p:cNvSpPr/>
          <p:nvPr/>
        </p:nvSpPr>
        <p:spPr>
          <a:xfrm>
            <a:off x="7908036" y="4962421"/>
            <a:ext cx="2802775" cy="1154084"/>
          </a:xfrm>
          <a:prstGeom prst="roundRect">
            <a:avLst>
              <a:gd name="adj" fmla="val 4754"/>
            </a:avLst>
          </a:prstGeom>
          <a:solidFill>
            <a:srgbClr val="FEF9E7"/>
          </a:solidFill>
          <a:ln w="15240">
            <a:solidFill>
              <a:srgbClr val="9C640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C64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誤差狀態（Error States）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誤喚醒（雜訊觸發）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不喚醒（CTR 不足）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隔離失效（直連路徑）</a:t>
            </a:r>
            <a:endParaRPr lang="en-US" sz="1136" dirty="0"/>
          </a:p>
        </p:txBody>
      </p:sp>
      <p:sp>
        <p:nvSpPr>
          <p:cNvPr id="9" name="Text 7"/>
          <p:cNvSpPr/>
          <p:nvPr/>
        </p:nvSpPr>
        <p:spPr>
          <a:xfrm>
            <a:off x="3291701" y="5168507"/>
            <a:ext cx="3791989" cy="1154084"/>
          </a:xfrm>
          <a:prstGeom prst="roundRect">
            <a:avLst>
              <a:gd name="adj" fmla="val 4754"/>
            </a:avLst>
          </a:prstGeom>
          <a:solidFill>
            <a:srgbClr val="F4ECF7"/>
          </a:solidFill>
          <a:ln w="15240">
            <a:solidFill>
              <a:srgbClr val="6C348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6C34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控制因子（Control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R33=887 Ω 工作點（式 10-1）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CTR 餘裕 ≥ 2 倍（式 10-2，Rank B 130~260%）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 磁珠；R50/R51（@ 預留）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改善：π 濾波＋切斷直連（B5）</a:t>
            </a:r>
            <a:endParaRPr lang="en-US" sz="1136" dirty="0"/>
          </a:p>
        </p:txBody>
      </p:sp>
      <p:sp>
        <p:nvSpPr>
          <p:cNvPr id="10" name="Shape 8"/>
          <p:cNvSpPr/>
          <p:nvPr/>
        </p:nvSpPr>
        <p:spPr>
          <a:xfrm>
            <a:off x="3291701" y="3890772"/>
            <a:ext cx="989215" cy="0"/>
          </a:xfrm>
          <a:prstGeom prst="line">
            <a:avLst/>
          </a:prstGeom>
          <a:noFill/>
          <a:ln w="22860">
            <a:solidFill>
              <a:srgbClr val="1A52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4476" y="2819123"/>
            <a:ext cx="0" cy="412173"/>
          </a:xfrm>
          <a:prstGeom prst="line">
            <a:avLst/>
          </a:prstGeom>
          <a:noFill/>
          <a:ln w="2286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5187696" y="4550248"/>
            <a:ext cx="0" cy="618259"/>
          </a:xfrm>
          <a:prstGeom prst="line">
            <a:avLst/>
          </a:prstGeom>
          <a:noFill/>
          <a:ln w="22860">
            <a:solidFill>
              <a:srgbClr val="6C348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6918821" y="3643468"/>
            <a:ext cx="989215" cy="41217"/>
          </a:xfrm>
          <a:prstGeom prst="line">
            <a:avLst/>
          </a:prstGeom>
          <a:noFill/>
          <a:ln w="2286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18821" y="4179293"/>
            <a:ext cx="989215" cy="1195301"/>
          </a:xfrm>
          <a:prstGeom prst="line">
            <a:avLst/>
          </a:prstGeom>
          <a:noFill/>
          <a:ln w="22860">
            <a:solidFill>
              <a:srgbClr val="9C640C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外部 Gateway 介面 — 內部方塊圖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J4 四線：EXT_I/O_2 喚醒＋RS485_A/B＋GND｜北水／Fine-tek 自定協定｜錶體 M12 四芯出線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2679" y="2532823"/>
            <a:ext cx="1917105" cy="2236622"/>
          </a:xfrm>
          <a:prstGeom prst="roundRect">
            <a:avLst>
              <a:gd name="adj" fmla="val 2862"/>
            </a:avLst>
          </a:prstGeom>
          <a:solidFill>
            <a:srgbClr val="FEF9E7"/>
          </a:solidFill>
          <a:ln w="15240">
            <a:solidFill>
              <a:srgbClr val="7D660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61" b="1" dirty="0">
                <a:solidFill>
                  <a:srgbClr val="7D66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 Gateway</a:t>
            </a:r>
            <a:endParaRPr lang="en-US" sz="126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1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北水／Fine-tek</a:t>
            </a:r>
            <a:endParaRPr lang="en-US" sz="126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1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自定通訊協定</a:t>
            </a:r>
            <a:endParaRPr lang="en-US" sz="126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1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（喚醒＋抄讀）</a:t>
            </a:r>
            <a:endParaRPr lang="en-US" sz="1261" dirty="0"/>
          </a:p>
        </p:txBody>
      </p:sp>
      <p:sp>
        <p:nvSpPr>
          <p:cNvPr id="5" name="Text 3"/>
          <p:cNvSpPr/>
          <p:nvPr/>
        </p:nvSpPr>
        <p:spPr>
          <a:xfrm>
            <a:off x="3378577" y="2452943"/>
            <a:ext cx="1917105" cy="878673"/>
          </a:xfrm>
          <a:prstGeom prst="roundRect">
            <a:avLst>
              <a:gd name="adj" fmla="val 6244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6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J4：EXT_I/O_2</a:t>
            </a:r>
            <a:endParaRPr lang="en-US" sz="126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22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喚醒訊號線（3.3~3.6 V）</a:t>
            </a:r>
            <a:endParaRPr lang="en-US" sz="1261" dirty="0"/>
          </a:p>
        </p:txBody>
      </p:sp>
      <p:sp>
        <p:nvSpPr>
          <p:cNvPr id="6" name="Text 4"/>
          <p:cNvSpPr/>
          <p:nvPr/>
        </p:nvSpPr>
        <p:spPr>
          <a:xfrm>
            <a:off x="6094476" y="2452943"/>
            <a:ext cx="1917105" cy="878673"/>
          </a:xfrm>
          <a:prstGeom prst="roundRect">
            <a:avLst>
              <a:gd name="adj" fmla="val 6244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6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光耦隔離輸入</a:t>
            </a:r>
            <a:endParaRPr lang="en-US" sz="126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9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10 章</a:t>
            </a:r>
            <a:endParaRPr lang="en-US" sz="1261" dirty="0"/>
          </a:p>
        </p:txBody>
      </p:sp>
      <p:sp>
        <p:nvSpPr>
          <p:cNvPr id="7" name="Text 5"/>
          <p:cNvSpPr/>
          <p:nvPr/>
        </p:nvSpPr>
        <p:spPr>
          <a:xfrm>
            <a:off x="8810375" y="2452943"/>
            <a:ext cx="2396381" cy="878673"/>
          </a:xfrm>
          <a:prstGeom prst="roundRect">
            <a:avLst>
              <a:gd name="adj" fmla="val 6244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6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MCU 喚醒</a:t>
            </a:r>
            <a:endParaRPr lang="en-US" sz="126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9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EXT_WAKE_UP 中斷</a:t>
            </a:r>
            <a:endParaRPr lang="en-US" sz="126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9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退出 LPM</a:t>
            </a:r>
            <a:endParaRPr lang="en-US" sz="1261" dirty="0"/>
          </a:p>
        </p:txBody>
      </p:sp>
      <p:sp>
        <p:nvSpPr>
          <p:cNvPr id="8" name="Text 6"/>
          <p:cNvSpPr/>
          <p:nvPr/>
        </p:nvSpPr>
        <p:spPr>
          <a:xfrm>
            <a:off x="3378577" y="4050531"/>
            <a:ext cx="1917105" cy="878673"/>
          </a:xfrm>
          <a:prstGeom prst="roundRect">
            <a:avLst>
              <a:gd name="adj" fmla="val 6244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6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J4：RS485_A/B</a:t>
            </a:r>
            <a:endParaRPr lang="en-US" sz="126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9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＋GND（共地）</a:t>
            </a:r>
            <a:endParaRPr lang="en-US" sz="1261" dirty="0"/>
          </a:p>
        </p:txBody>
      </p:sp>
      <p:sp>
        <p:nvSpPr>
          <p:cNvPr id="9" name="Text 7"/>
          <p:cNvSpPr/>
          <p:nvPr/>
        </p:nvSpPr>
        <p:spPr>
          <a:xfrm>
            <a:off x="6094476" y="4050531"/>
            <a:ext cx="1917105" cy="878673"/>
          </a:xfrm>
          <a:prstGeom prst="roundRect">
            <a:avLst>
              <a:gd name="adj" fmla="val 6244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6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RS-485 方塊</a:t>
            </a:r>
            <a:endParaRPr lang="en-US" sz="126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97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ADM3485（第 9 章）</a:t>
            </a:r>
            <a:endParaRPr lang="en-US" sz="1261" dirty="0"/>
          </a:p>
        </p:txBody>
      </p:sp>
      <p:sp>
        <p:nvSpPr>
          <p:cNvPr id="10" name="Text 8"/>
          <p:cNvSpPr/>
          <p:nvPr/>
        </p:nvSpPr>
        <p:spPr>
          <a:xfrm>
            <a:off x="8810375" y="4050531"/>
            <a:ext cx="2396381" cy="878673"/>
          </a:xfrm>
          <a:prstGeom prst="roundRect">
            <a:avLst>
              <a:gd name="adj" fmla="val 6244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61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MCU UART</a:t>
            </a:r>
            <a:endParaRPr lang="en-US" sz="126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協定交易：CRC＋重試</a:t>
            </a:r>
            <a:endParaRPr lang="en-US" sz="1261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完成後關斷返回睡眠</a:t>
            </a:r>
            <a:endParaRPr lang="en-US" sz="1261" dirty="0"/>
          </a:p>
        </p:txBody>
      </p:sp>
      <p:sp>
        <p:nvSpPr>
          <p:cNvPr id="11" name="Shape 9"/>
          <p:cNvSpPr/>
          <p:nvPr/>
        </p:nvSpPr>
        <p:spPr>
          <a:xfrm>
            <a:off x="2579784" y="2892280"/>
            <a:ext cx="798794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95682" y="2892280"/>
            <a:ext cx="798794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11581" y="2892280"/>
            <a:ext cx="798794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79784" y="4489867"/>
            <a:ext cx="798794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95682" y="4489867"/>
            <a:ext cx="798794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11581" y="4489867"/>
            <a:ext cx="798794" cy="0"/>
          </a:xfrm>
          <a:prstGeom prst="line">
            <a:avLst/>
          </a:prstGeom>
          <a:noFill/>
          <a:ln w="19050">
            <a:solidFill>
              <a:srgbClr val="943126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661551" y="2508404"/>
            <a:ext cx="635259" cy="240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8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①喚醒</a:t>
            </a:r>
            <a:endParaRPr lang="en-US" sz="978" dirty="0"/>
          </a:p>
        </p:txBody>
      </p:sp>
      <p:sp>
        <p:nvSpPr>
          <p:cNvPr id="18" name="Text 16"/>
          <p:cNvSpPr/>
          <p:nvPr/>
        </p:nvSpPr>
        <p:spPr>
          <a:xfrm>
            <a:off x="2525998" y="4090015"/>
            <a:ext cx="906364" cy="240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8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②資料交換</a:t>
            </a:r>
            <a:endParaRPr lang="en-US" sz="978" dirty="0"/>
          </a:p>
        </p:txBody>
      </p:sp>
      <p:sp>
        <p:nvSpPr>
          <p:cNvPr id="19" name="Text 17"/>
          <p:cNvSpPr/>
          <p:nvPr/>
        </p:nvSpPr>
        <p:spPr>
          <a:xfrm>
            <a:off x="1581225" y="5338182"/>
            <a:ext cx="9026503" cy="22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7" dirty="0">
                <a:solidFill>
                  <a:srgbClr val="4249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時序：① Gateway 驅動 EXT_I/O_2 → ② RS-485 依自定協定交易 → ③ 交易完成，收發器關斷（≤1 µA）、MCU 返回睡眠</a:t>
            </a:r>
            <a:endParaRPr lang="en-US" sz="847" dirty="0"/>
          </a:p>
        </p:txBody>
      </p:sp>
      <p:sp>
        <p:nvSpPr>
          <p:cNvPr id="20" name="Text 18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外部 Gateway 介面 — P 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系統交互：Gateway 接地雜訊經共地進入 DGND（機制 #1）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72749" y="1376518"/>
            <a:ext cx="8243455" cy="1442605"/>
          </a:xfrm>
          <a:prstGeom prst="roundRect">
            <a:avLst>
              <a:gd name="adj" fmla="val 3803"/>
            </a:avLst>
          </a:prstGeom>
          <a:solidFill>
            <a:srgbClr val="FDEDEC"/>
          </a:solidFill>
          <a:ln w="15240">
            <a:solidFill>
              <a:srgbClr val="94312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雜訊因子（Noise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件間變異：連接器接觸阻抗、光耦 CTR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時間老化：接點氧化、TVS 劣化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顧客使用：佈線長度／路徑、Gateway 供電品質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外部環境：EFT／突波／ESD 沿線入侵（8.11/8.16/8.13）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系統交互：Gateway 接地雜訊經共地進入 DGND（機制 #1）</a:t>
            </a:r>
            <a:endParaRPr lang="en-US" sz="1136" dirty="0"/>
          </a:p>
        </p:txBody>
      </p:sp>
      <p:sp>
        <p:nvSpPr>
          <p:cNvPr id="5" name="Text 3"/>
          <p:cNvSpPr/>
          <p:nvPr/>
        </p:nvSpPr>
        <p:spPr>
          <a:xfrm>
            <a:off x="1478141" y="3313730"/>
            <a:ext cx="1813560" cy="1154084"/>
          </a:xfrm>
          <a:prstGeom prst="roundRect">
            <a:avLst>
              <a:gd name="adj" fmla="val 4754"/>
            </a:avLst>
          </a:prstGeom>
          <a:solidFill>
            <a:srgbClr val="EAF2F8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輸入（Input）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EXT_I/O_2 喚醒訊號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RS485_A／B 資料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（北水／Fine-tek 協定）</a:t>
            </a:r>
            <a:endParaRPr lang="en-US" sz="1136" dirty="0"/>
          </a:p>
        </p:txBody>
      </p:sp>
      <p:sp>
        <p:nvSpPr>
          <p:cNvPr id="6" name="Text 4"/>
          <p:cNvSpPr/>
          <p:nvPr/>
        </p:nvSpPr>
        <p:spPr>
          <a:xfrm>
            <a:off x="4280916" y="3272513"/>
            <a:ext cx="2637905" cy="1236518"/>
          </a:xfrm>
          <a:prstGeom prst="roundRect">
            <a:avLst>
              <a:gd name="adj" fmla="val 4437"/>
            </a:avLst>
          </a:prstGeom>
          <a:solidFill>
            <a:srgbClr val="D6E4F0"/>
          </a:solidFill>
          <a:ln w="15240">
            <a:solidFill>
              <a:srgbClr val="1A527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 Gateway 介面（J4）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8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喚醒訊號＋RS-485 → 與 Gateway 完成一次抄讀交易</a:t>
            </a:r>
            <a:endParaRPr lang="en-US" sz="1136" dirty="0"/>
          </a:p>
        </p:txBody>
      </p:sp>
      <p:sp>
        <p:nvSpPr>
          <p:cNvPr id="7" name="Text 5"/>
          <p:cNvSpPr/>
          <p:nvPr/>
        </p:nvSpPr>
        <p:spPr>
          <a:xfrm>
            <a:off x="7908036" y="3107644"/>
            <a:ext cx="2802775" cy="1112866"/>
          </a:xfrm>
          <a:prstGeom prst="roundRect">
            <a:avLst>
              <a:gd name="adj" fmla="val 4930"/>
            </a:avLst>
          </a:prstGeom>
          <a:solidFill>
            <a:srgbClr val="E9F7EF"/>
          </a:solidFill>
          <a:ln w="15240">
            <a:solidFill>
              <a:srgbClr val="196F3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196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理想功能／輸出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喚醒可靠、不漏抄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資料交換正確（CRC）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待機電流 ≤ 1 µA</a:t>
            </a:r>
            <a:endParaRPr lang="en-US" sz="1136" dirty="0"/>
          </a:p>
        </p:txBody>
      </p:sp>
      <p:sp>
        <p:nvSpPr>
          <p:cNvPr id="8" name="Text 6"/>
          <p:cNvSpPr/>
          <p:nvPr/>
        </p:nvSpPr>
        <p:spPr>
          <a:xfrm>
            <a:off x="7908036" y="4962421"/>
            <a:ext cx="2802775" cy="1154084"/>
          </a:xfrm>
          <a:prstGeom prst="roundRect">
            <a:avLst>
              <a:gd name="adj" fmla="val 4754"/>
            </a:avLst>
          </a:prstGeom>
          <a:solidFill>
            <a:srgbClr val="FEF9E7"/>
          </a:solidFill>
          <a:ln w="15240">
            <a:solidFill>
              <a:srgbClr val="9C640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9C64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誤差狀態（Error States）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雜訊誤喚醒 → 空耗電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通訊失敗／逾時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共地雜訊干擾 ESI 計數</a:t>
            </a:r>
            <a:endParaRPr lang="en-US" sz="1136" dirty="0"/>
          </a:p>
        </p:txBody>
      </p:sp>
      <p:sp>
        <p:nvSpPr>
          <p:cNvPr id="9" name="Text 7"/>
          <p:cNvSpPr/>
          <p:nvPr/>
        </p:nvSpPr>
        <p:spPr>
          <a:xfrm>
            <a:off x="3291701" y="5168507"/>
            <a:ext cx="3791989" cy="1154084"/>
          </a:xfrm>
          <a:prstGeom prst="roundRect">
            <a:avLst>
              <a:gd name="adj" fmla="val 4754"/>
            </a:avLst>
          </a:prstGeom>
          <a:solidFill>
            <a:srgbClr val="F4ECF7"/>
          </a:solidFill>
          <a:ln w="15240">
            <a:solidFill>
              <a:srgbClr val="6C348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6" b="1" dirty="0">
                <a:solidFill>
                  <a:srgbClr val="6C34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控制因子（Control Factors）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光耦隔離＋TVS3 入口鉗位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fail-safe 偏壓（式 9-1）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協定 CRC＋重試＋逾時返回睡眠</a:t>
            </a:r>
            <a:endParaRPr lang="en-US" sz="1136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6" dirty="0">
                <a:solidFill>
                  <a:srgbClr val="212F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改善：CMC＋π 濾波（B1/B5）</a:t>
            </a:r>
            <a:endParaRPr lang="en-US" sz="1136" dirty="0"/>
          </a:p>
        </p:txBody>
      </p:sp>
      <p:sp>
        <p:nvSpPr>
          <p:cNvPr id="10" name="Shape 8"/>
          <p:cNvSpPr/>
          <p:nvPr/>
        </p:nvSpPr>
        <p:spPr>
          <a:xfrm>
            <a:off x="3291701" y="3890772"/>
            <a:ext cx="989215" cy="0"/>
          </a:xfrm>
          <a:prstGeom prst="line">
            <a:avLst/>
          </a:prstGeom>
          <a:noFill/>
          <a:ln w="22860">
            <a:solidFill>
              <a:srgbClr val="1A52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4476" y="2819123"/>
            <a:ext cx="0" cy="412173"/>
          </a:xfrm>
          <a:prstGeom prst="line">
            <a:avLst/>
          </a:prstGeom>
          <a:noFill/>
          <a:ln w="22860">
            <a:solidFill>
              <a:srgbClr val="9431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5187696" y="4550248"/>
            <a:ext cx="0" cy="618259"/>
          </a:xfrm>
          <a:prstGeom prst="line">
            <a:avLst/>
          </a:prstGeom>
          <a:noFill/>
          <a:ln w="22860">
            <a:solidFill>
              <a:srgbClr val="6C348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6918821" y="3643468"/>
            <a:ext cx="989215" cy="41217"/>
          </a:xfrm>
          <a:prstGeom prst="line">
            <a:avLst/>
          </a:prstGeom>
          <a:noFill/>
          <a:ln w="22860">
            <a:solidFill>
              <a:srgbClr val="196F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18821" y="4179293"/>
            <a:ext cx="989215" cy="1195301"/>
          </a:xfrm>
          <a:prstGeom prst="line">
            <a:avLst/>
          </a:prstGeom>
          <a:noFill/>
          <a:ln w="22860">
            <a:solidFill>
              <a:srgbClr val="9C640C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Fine-tek 機密文件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圖 → DFMEA 之轉換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D6E4F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9047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理想功能／輸出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23560" y="1600200"/>
            <a:ext cx="777240" cy="384048"/>
          </a:xfrm>
          <a:prstGeom prst="rightArrow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6537960" y="1417320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DEDEC"/>
          </a:solidFill>
          <a:ln/>
        </p:spPr>
      </p:sp>
      <p:sp>
        <p:nvSpPr>
          <p:cNvPr id="7" name="Text 5"/>
          <p:cNvSpPr/>
          <p:nvPr/>
        </p:nvSpPr>
        <p:spPr>
          <a:xfrm>
            <a:off x="6720840" y="1490472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功能／要求（Function / Requirement）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350008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D6E4F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2316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誤差狀態（Error States）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23560" y="2532888"/>
            <a:ext cx="777240" cy="384048"/>
          </a:xfrm>
          <a:prstGeom prst="rightArrow">
            <a:avLst/>
          </a:prstGeom>
          <a:solidFill>
            <a:srgbClr val="E67E22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350008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DEDEC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42316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潛在失效模式（Failure Mode）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282696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D6E4F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35584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雜訊因子（五分類）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23560" y="3465576"/>
            <a:ext cx="777240" cy="384048"/>
          </a:xfrm>
          <a:prstGeom prst="rightArrow">
            <a:avLst/>
          </a:prstGeom>
          <a:solidFill>
            <a:srgbClr val="E67E22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3282696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DEDEC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335584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潛在失效原因／機制（Causes）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4215384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D6E4F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288536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52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控制因子（Control Factors）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623560" y="4398264"/>
            <a:ext cx="777240" cy="384048"/>
          </a:xfrm>
          <a:prstGeom prst="rightArrow">
            <a:avLst/>
          </a:prstGeom>
          <a:solidFill>
            <a:srgbClr val="E67E22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4215384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DEDEC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28853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431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現行設計管制—預防（Prevention）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A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已依此轉換建立 EPH-DFMEA-2026-001（V0.1，25 條失效模式；黃色標示＝數值／規格待確認）。S/O/D 初評值須由跨機能團隊會議定案。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2026-08-13T10:03:21Z</dcterms:created>
  <dcterms:modified xsi:type="dcterms:W3CDTF">2026-08-13T10:03:21Z</dcterms:modified>
</cp:coreProperties>
</file>