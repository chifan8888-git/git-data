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6" r:id="rId2"/>
  </p:sldMasterIdLst>
  <p:notesMasterIdLst>
    <p:notesMasterId r:id="rId11"/>
  </p:notesMasterIdLst>
  <p:handoutMasterIdLst>
    <p:handoutMasterId r:id="rId12"/>
  </p:handoutMasterIdLst>
  <p:sldIdLst>
    <p:sldId id="285" r:id="rId3"/>
    <p:sldId id="345" r:id="rId4"/>
    <p:sldId id="346" r:id="rId5"/>
    <p:sldId id="347" r:id="rId6"/>
    <p:sldId id="348" r:id="rId7"/>
    <p:sldId id="349" r:id="rId8"/>
    <p:sldId id="337" r:id="rId9"/>
    <p:sldId id="350" r:id="rId10"/>
  </p:sldIdLst>
  <p:sldSz cx="9144000" cy="6858000" type="screen4x3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3973A8A3-418A-4D87-A272-63ED6E911AC4}">
          <p14:sldIdLst>
            <p14:sldId id="285"/>
            <p14:sldId id="345"/>
            <p14:sldId id="346"/>
            <p14:sldId id="347"/>
            <p14:sldId id="348"/>
            <p14:sldId id="349"/>
            <p14:sldId id="337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4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017DC5"/>
    <a:srgbClr val="2D008F"/>
    <a:srgbClr val="164E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4" autoAdjust="0"/>
    <p:restoredTop sz="80959" autoAdjust="0"/>
  </p:normalViewPr>
  <p:slideViewPr>
    <p:cSldViewPr snapToGrid="0">
      <p:cViewPr varScale="1">
        <p:scale>
          <a:sx n="53" d="100"/>
          <a:sy n="53" d="100"/>
        </p:scale>
        <p:origin x="912" y="72"/>
      </p:cViewPr>
      <p:guideLst>
        <p:guide orient="horz" pos="618"/>
        <p:guide pos="4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16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03496-D1DD-4067-9BB3-4A1B96554E6F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679B5-5960-41F8-B8F8-9AC6384938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58531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ACF44-EF46-4FB7-ABE2-6532BEE453E2}" type="datetimeFigureOut">
              <a:rPr lang="zh-TW" altLang="en-US" smtClean="0"/>
              <a:t>2025/10/14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1DEE2-E43C-4DD4-8F7E-23E5FE0231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55703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總經理，各位主管大家好，那以下開始是</a:t>
            </a:r>
            <a:r>
              <a:rPr lang="en-US" altLang="zh-TW" dirty="0"/>
              <a:t>SPX</a:t>
            </a:r>
            <a:r>
              <a:rPr lang="zh-TW" altLang="en-US" dirty="0"/>
              <a:t>分離型機構部分的報告</a:t>
            </a:r>
          </a:p>
        </p:txBody>
      </p:sp>
    </p:spTree>
    <p:extLst>
      <p:ext uri="{BB962C8B-B14F-4D97-AF65-F5344CB8AC3E}">
        <p14:creationId xmlns:p14="http://schemas.microsoft.com/office/powerpoint/2010/main" val="236896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539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19593" y="298014"/>
            <a:ext cx="7886700" cy="792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>
                <a:solidFill>
                  <a:srgbClr val="0033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95094" y="1146116"/>
            <a:ext cx="78867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9EA0-CB35-41D4-AB6D-A2466648FD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647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02499"/>
            <a:ext cx="9144000" cy="36717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717" y="722759"/>
            <a:ext cx="2987143" cy="95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982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33CC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600" b="1" kern="1200">
          <a:solidFill>
            <a:srgbClr val="0033CC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1" kern="1200">
          <a:solidFill>
            <a:srgbClr val="0033CC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9144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3716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18288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02499"/>
            <a:ext cx="9144000" cy="367176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936123" y="641950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9A89EA0-CB35-41D4-AB6D-A2466648FD5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582" y="220686"/>
            <a:ext cx="1408943" cy="45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6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079"/>
          <p:cNvSpPr>
            <a:spLocks noChangeArrowheads="1"/>
          </p:cNvSpPr>
          <p:nvPr/>
        </p:nvSpPr>
        <p:spPr bwMode="auto">
          <a:xfrm>
            <a:off x="3275856" y="404664"/>
            <a:ext cx="5923116" cy="284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2075" tIns="46038" rIns="92075" bIns="4603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 sz="2800" dirty="0">
              <a:solidFill>
                <a:srgbClr val="00B0F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dobe 黑体 Std R" pitchFamily="34" charset="-128"/>
              <a:ea typeface="Adobe 黑体 Std R" pitchFamily="34" charset="-128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8562" y="2406783"/>
            <a:ext cx="79068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K250501R1</a:t>
            </a:r>
          </a:p>
          <a:p>
            <a:pPr algn="ctr"/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級奧多曼電子水表先期研究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3275856" y="4606677"/>
            <a:ext cx="1938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彭志豪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日期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2025/9/22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9654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9EA0-CB35-41D4-AB6D-A2466648FD57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AF2EC37-FF77-4981-A62D-1AC2F5566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82" y="434521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 b="1" u="sng" dirty="0">
                <a:solidFill>
                  <a:srgbClr val="99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葉輪訊號</a:t>
            </a:r>
          </a:p>
        </p:txBody>
      </p:sp>
      <p:sp>
        <p:nvSpPr>
          <p:cNvPr id="22" name="文字方塊 1">
            <a:extLst>
              <a:ext uri="{FF2B5EF4-FFF2-40B4-BE49-F238E27FC236}">
                <a16:creationId xmlns:a16="http://schemas.microsoft.com/office/drawing/2014/main" id="{0238BF76-DC6E-4B9A-BA0D-DA96C3976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84" y="1238149"/>
            <a:ext cx="378958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流速</a:t>
            </a:r>
            <a:r>
              <a:rPr lang="en-US" altLang="zh-TW" sz="2400" dirty="0">
                <a:latin typeface="Arial" panose="020B0604020202020204" pitchFamily="34" charset="0"/>
              </a:rPr>
              <a:t>1m (m/s)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訊號頻率</a:t>
            </a:r>
            <a:r>
              <a:rPr lang="en-US" altLang="zh-TW" sz="2400" dirty="0">
                <a:latin typeface="Arial" panose="020B0604020202020204" pitchFamily="34" charset="0"/>
              </a:rPr>
              <a:t>19Hz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A2334B1-4323-4E5C-B51B-053EE56CE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54" y="2200728"/>
            <a:ext cx="4191000" cy="2514600"/>
          </a:xfrm>
          <a:prstGeom prst="rect">
            <a:avLst/>
          </a:prstGeom>
        </p:spPr>
      </p:pic>
      <p:sp>
        <p:nvSpPr>
          <p:cNvPr id="7" name="文字方塊 1">
            <a:extLst>
              <a:ext uri="{FF2B5EF4-FFF2-40B4-BE49-F238E27FC236}">
                <a16:creationId xmlns:a16="http://schemas.microsoft.com/office/drawing/2014/main" id="{ED811109-A82E-44FF-8D6F-E054B4CC4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014" y="1243538"/>
            <a:ext cx="378958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流速</a:t>
            </a:r>
            <a:r>
              <a:rPr lang="en-US" altLang="zh-TW" sz="2400" dirty="0">
                <a:latin typeface="Arial" panose="020B0604020202020204" pitchFamily="34" charset="0"/>
              </a:rPr>
              <a:t>2m (m/s)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訊號頻率</a:t>
            </a:r>
            <a:r>
              <a:rPr lang="en-US" altLang="zh-TW" sz="2400" dirty="0">
                <a:latin typeface="Arial" panose="020B0604020202020204" pitchFamily="34" charset="0"/>
              </a:rPr>
              <a:t>38Hz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107FD89-58B7-47B1-A457-7C38585FD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14" y="2191603"/>
            <a:ext cx="4191000" cy="25146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CBE7FDF-DA9F-44B5-89C1-94F831CEBF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127" y="4764130"/>
            <a:ext cx="1267587" cy="168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7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9EA0-CB35-41D4-AB6D-A2466648FD57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AF2EC37-FF77-4981-A62D-1AC2F5566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82" y="434521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 b="1" u="sng" dirty="0">
                <a:solidFill>
                  <a:srgbClr val="99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葉輪訊號</a:t>
            </a:r>
          </a:p>
        </p:txBody>
      </p:sp>
      <p:sp>
        <p:nvSpPr>
          <p:cNvPr id="22" name="文字方塊 1">
            <a:extLst>
              <a:ext uri="{FF2B5EF4-FFF2-40B4-BE49-F238E27FC236}">
                <a16:creationId xmlns:a16="http://schemas.microsoft.com/office/drawing/2014/main" id="{0238BF76-DC6E-4B9A-BA0D-DA96C3976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84" y="1238149"/>
            <a:ext cx="378958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流速</a:t>
            </a:r>
            <a:r>
              <a:rPr lang="en-US" altLang="zh-TW" sz="2400" dirty="0">
                <a:latin typeface="Arial" panose="020B0604020202020204" pitchFamily="34" charset="0"/>
              </a:rPr>
              <a:t>3m (m/s)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訊號頻率</a:t>
            </a:r>
            <a:r>
              <a:rPr lang="en-US" altLang="zh-TW" sz="2400" dirty="0">
                <a:latin typeface="Arial" panose="020B0604020202020204" pitchFamily="34" charset="0"/>
              </a:rPr>
              <a:t>58Hz</a:t>
            </a:r>
          </a:p>
        </p:txBody>
      </p:sp>
      <p:sp>
        <p:nvSpPr>
          <p:cNvPr id="7" name="文字方塊 1">
            <a:extLst>
              <a:ext uri="{FF2B5EF4-FFF2-40B4-BE49-F238E27FC236}">
                <a16:creationId xmlns:a16="http://schemas.microsoft.com/office/drawing/2014/main" id="{ED811109-A82E-44FF-8D6F-E054B4CC4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014" y="1243538"/>
            <a:ext cx="378958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流速</a:t>
            </a:r>
            <a:r>
              <a:rPr lang="en-US" altLang="zh-TW" sz="2400" dirty="0">
                <a:latin typeface="Arial" panose="020B0604020202020204" pitchFamily="34" charset="0"/>
              </a:rPr>
              <a:t>4m (m/s)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訊號頻率</a:t>
            </a:r>
            <a:r>
              <a:rPr lang="en-US" altLang="zh-TW" sz="2400" dirty="0">
                <a:latin typeface="Arial" panose="020B0604020202020204" pitchFamily="34" charset="0"/>
              </a:rPr>
              <a:t>76Hz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6F5E67-7507-47AE-9A54-1DDD24E9F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82" y="2171700"/>
            <a:ext cx="4191000" cy="25146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6484ED4-867C-485E-814E-D68074F5C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523" y="2171700"/>
            <a:ext cx="4191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40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9EA0-CB35-41D4-AB6D-A2466648FD57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AF2EC37-FF77-4981-A62D-1AC2F5566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82" y="434521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800" b="1" u="sng" dirty="0">
                <a:solidFill>
                  <a:srgbClr val="99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葉輪訊號</a:t>
            </a:r>
          </a:p>
        </p:txBody>
      </p:sp>
      <p:sp>
        <p:nvSpPr>
          <p:cNvPr id="22" name="文字方塊 1">
            <a:extLst>
              <a:ext uri="{FF2B5EF4-FFF2-40B4-BE49-F238E27FC236}">
                <a16:creationId xmlns:a16="http://schemas.microsoft.com/office/drawing/2014/main" id="{0238BF76-DC6E-4B9A-BA0D-DA96C3976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84" y="1238149"/>
            <a:ext cx="378958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流速</a:t>
            </a:r>
            <a:r>
              <a:rPr lang="en-US" altLang="zh-TW" sz="2400" dirty="0">
                <a:latin typeface="Arial" panose="020B0604020202020204" pitchFamily="34" charset="0"/>
              </a:rPr>
              <a:t>5m (m/s)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訊號頻率</a:t>
            </a:r>
            <a:r>
              <a:rPr lang="en-US" altLang="zh-TW" sz="2400" dirty="0">
                <a:latin typeface="Arial" panose="020B0604020202020204" pitchFamily="34" charset="0"/>
              </a:rPr>
              <a:t>96Hz</a:t>
            </a:r>
          </a:p>
        </p:txBody>
      </p:sp>
      <p:sp>
        <p:nvSpPr>
          <p:cNvPr id="7" name="文字方塊 1">
            <a:extLst>
              <a:ext uri="{FF2B5EF4-FFF2-40B4-BE49-F238E27FC236}">
                <a16:creationId xmlns:a16="http://schemas.microsoft.com/office/drawing/2014/main" id="{ED811109-A82E-44FF-8D6F-E054B4CC4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014" y="1243538"/>
            <a:ext cx="378958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流速</a:t>
            </a:r>
            <a:r>
              <a:rPr lang="en-US" altLang="zh-TW" sz="2400" dirty="0">
                <a:latin typeface="Arial" panose="020B0604020202020204" pitchFamily="34" charset="0"/>
              </a:rPr>
              <a:t>6m (m/s)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400" dirty="0">
                <a:latin typeface="Arial" panose="020B0604020202020204" pitchFamily="34" charset="0"/>
              </a:rPr>
              <a:t>訊號頻率</a:t>
            </a:r>
            <a:r>
              <a:rPr lang="en-US" altLang="zh-TW" sz="2400" dirty="0">
                <a:latin typeface="Arial" panose="020B0604020202020204" pitchFamily="34" charset="0"/>
              </a:rPr>
              <a:t>116Hz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36E8543-2830-40A2-BBD5-753797217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82" y="2171700"/>
            <a:ext cx="4191000" cy="25146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DF7557F-75B7-4B9E-8001-3E539A7C3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523" y="2171700"/>
            <a:ext cx="4191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07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9EA0-CB35-41D4-AB6D-A2466648FD57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AF2EC37-FF77-4981-A62D-1AC2F5566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82" y="434521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TW" altLang="en-US" sz="2800" b="1" u="sng" dirty="0">
                <a:solidFill>
                  <a:srgbClr val="99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葉輪訊號</a:t>
            </a:r>
          </a:p>
        </p:txBody>
      </p:sp>
      <p:sp>
        <p:nvSpPr>
          <p:cNvPr id="22" name="文字方塊 1">
            <a:extLst>
              <a:ext uri="{FF2B5EF4-FFF2-40B4-BE49-F238E27FC236}">
                <a16:creationId xmlns:a16="http://schemas.microsoft.com/office/drawing/2014/main" id="{0238BF76-DC6E-4B9A-BA0D-DA96C3976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941" y="4917763"/>
            <a:ext cx="37895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TI DRV5032</a:t>
            </a:r>
          </a:p>
        </p:txBody>
      </p:sp>
      <p:sp>
        <p:nvSpPr>
          <p:cNvPr id="7" name="文字方塊 1">
            <a:extLst>
              <a:ext uri="{FF2B5EF4-FFF2-40B4-BE49-F238E27FC236}">
                <a16:creationId xmlns:a16="http://schemas.microsoft.com/office/drawing/2014/main" id="{ED811109-A82E-44FF-8D6F-E054B4CC4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61" y="3541115"/>
            <a:ext cx="831804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TW" altLang="en-US" sz="2200" dirty="0">
                <a:latin typeface="Arial" panose="020B0604020202020204" pitchFamily="34" charset="0"/>
              </a:rPr>
              <a:t>葉輪訊號</a:t>
            </a:r>
            <a:endParaRPr lang="en-US" altLang="zh-TW" sz="2200" dirty="0">
              <a:latin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TW" altLang="en-US" sz="2200" dirty="0">
                <a:latin typeface="Arial" panose="020B0604020202020204" pitchFamily="34" charset="0"/>
              </a:rPr>
              <a:t>從</a:t>
            </a:r>
            <a:r>
              <a:rPr lang="en-US" altLang="zh-TW" sz="2200" dirty="0">
                <a:latin typeface="Arial" panose="020B0604020202020204" pitchFamily="34" charset="0"/>
              </a:rPr>
              <a:t>CN1</a:t>
            </a:r>
            <a:r>
              <a:rPr lang="zh-TW" altLang="en-US" sz="2200" dirty="0">
                <a:latin typeface="Arial" panose="020B0604020202020204" pitchFamily="34" charset="0"/>
              </a:rPr>
              <a:t>先經過</a:t>
            </a:r>
            <a:r>
              <a:rPr lang="en-US" altLang="zh-TW" sz="2200" dirty="0">
                <a:latin typeface="Arial" panose="020B0604020202020204" pitchFamily="34" charset="0"/>
              </a:rPr>
              <a:t>RC</a:t>
            </a:r>
            <a:r>
              <a:rPr lang="zh-TW" altLang="en-US" sz="2200" dirty="0">
                <a:latin typeface="Arial" panose="020B0604020202020204" pitchFamily="34" charset="0"/>
              </a:rPr>
              <a:t>低通濾波器，再進入</a:t>
            </a:r>
            <a:r>
              <a:rPr lang="en-US" altLang="zh-TW" sz="2200" dirty="0">
                <a:latin typeface="Arial" panose="020B0604020202020204" pitchFamily="34" charset="0"/>
              </a:rPr>
              <a:t>MCU PIN62</a:t>
            </a:r>
            <a:r>
              <a:rPr lang="zh-TW" altLang="en-US" sz="2200" dirty="0">
                <a:latin typeface="Arial" panose="020B0604020202020204" pitchFamily="34" charset="0"/>
              </a:rPr>
              <a:t>與</a:t>
            </a:r>
            <a:r>
              <a:rPr lang="en-US" altLang="zh-TW" sz="2200" dirty="0">
                <a:latin typeface="Arial" panose="020B0604020202020204" pitchFamily="34" charset="0"/>
              </a:rPr>
              <a:t>PIN64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94D12A9-0B64-4049-8B11-A5CCDEE40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1" y="1288925"/>
            <a:ext cx="2666423" cy="21400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F3AA5EF-7ED8-4760-993B-F25B067C9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098" y="1242869"/>
            <a:ext cx="2901725" cy="219570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5B95E86-6FF9-427A-B436-D20B529B3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73" y="4516540"/>
            <a:ext cx="7752050" cy="1140302"/>
          </a:xfrm>
          <a:prstGeom prst="rect">
            <a:avLst/>
          </a:prstGeom>
        </p:spPr>
      </p:pic>
      <p:sp>
        <p:nvSpPr>
          <p:cNvPr id="14" name="文字方塊 1">
            <a:extLst>
              <a:ext uri="{FF2B5EF4-FFF2-40B4-BE49-F238E27FC236}">
                <a16:creationId xmlns:a16="http://schemas.microsoft.com/office/drawing/2014/main" id="{647A2974-45F9-4DF9-989A-93E6C9D21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666" y="1321783"/>
            <a:ext cx="25515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R1=R2=0R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R3=R4=1M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C4=C5=100nF</a:t>
            </a:r>
          </a:p>
        </p:txBody>
      </p:sp>
    </p:spTree>
    <p:extLst>
      <p:ext uri="{BB962C8B-B14F-4D97-AF65-F5344CB8AC3E}">
        <p14:creationId xmlns:p14="http://schemas.microsoft.com/office/powerpoint/2010/main" val="154095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9EA0-CB35-41D4-AB6D-A2466648FD57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AF2EC37-FF77-4981-A62D-1AC2F5566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82" y="434521"/>
            <a:ext cx="10214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 b="1" u="sng" dirty="0">
                <a:solidFill>
                  <a:srgbClr val="99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TMR</a:t>
            </a:r>
            <a:endParaRPr lang="zh-TW" altLang="en-US" sz="2800" b="1" u="sng" dirty="0">
              <a:solidFill>
                <a:srgbClr val="99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2" name="文字方塊 1">
            <a:extLst>
              <a:ext uri="{FF2B5EF4-FFF2-40B4-BE49-F238E27FC236}">
                <a16:creationId xmlns:a16="http://schemas.microsoft.com/office/drawing/2014/main" id="{0238BF76-DC6E-4B9A-BA0D-DA96C3976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81" y="1085460"/>
            <a:ext cx="37895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TI DRV5032</a:t>
            </a:r>
          </a:p>
        </p:txBody>
      </p:sp>
      <p:sp>
        <p:nvSpPr>
          <p:cNvPr id="7" name="文字方塊 1">
            <a:extLst>
              <a:ext uri="{FF2B5EF4-FFF2-40B4-BE49-F238E27FC236}">
                <a16:creationId xmlns:a16="http://schemas.microsoft.com/office/drawing/2014/main" id="{ED811109-A82E-44FF-8D6F-E054B4CC4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81" y="3415333"/>
            <a:ext cx="37895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TW" sz="2400" dirty="0" err="1">
                <a:latin typeface="Arial" panose="020B0604020202020204" pitchFamily="34" charset="0"/>
              </a:rPr>
              <a:t>Littelfuse</a:t>
            </a:r>
            <a:endParaRPr lang="en-US" altLang="zh-TW" sz="2400" dirty="0">
              <a:latin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7FAD6F1-CC71-40DF-A3A9-8B9648463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97" y="1550199"/>
            <a:ext cx="8369833" cy="145705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840078E-CB20-409F-B8EC-5B9E9DFE2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81" y="3958642"/>
            <a:ext cx="8142154" cy="200148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E6C3E08-C044-4A0D-84A4-B432207B6241}"/>
              </a:ext>
            </a:extLst>
          </p:cNvPr>
          <p:cNvSpPr/>
          <p:nvPr/>
        </p:nvSpPr>
        <p:spPr>
          <a:xfrm>
            <a:off x="7155543" y="1785257"/>
            <a:ext cx="449943" cy="2757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A3853B-4BC5-4693-BC09-3B70E527345D}"/>
              </a:ext>
            </a:extLst>
          </p:cNvPr>
          <p:cNvSpPr/>
          <p:nvPr/>
        </p:nvSpPr>
        <p:spPr>
          <a:xfrm>
            <a:off x="4005941" y="5663682"/>
            <a:ext cx="449943" cy="2757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6994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9EA0-CB35-41D4-AB6D-A2466648FD57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76368A1-2975-4999-921A-160290334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9577"/>
              </p:ext>
            </p:extLst>
          </p:nvPr>
        </p:nvGraphicFramePr>
        <p:xfrm>
          <a:off x="244702" y="930656"/>
          <a:ext cx="8748821" cy="5383057"/>
        </p:xfrm>
        <a:graphic>
          <a:graphicData uri="http://schemas.openxmlformats.org/drawingml/2006/table">
            <a:tbl>
              <a:tblPr/>
              <a:tblGrid>
                <a:gridCol w="917007">
                  <a:extLst>
                    <a:ext uri="{9D8B030D-6E8A-4147-A177-3AD203B41FA5}">
                      <a16:colId xmlns:a16="http://schemas.microsoft.com/office/drawing/2014/main" val="2979860917"/>
                    </a:ext>
                  </a:extLst>
                </a:gridCol>
                <a:gridCol w="1710792">
                  <a:extLst>
                    <a:ext uri="{9D8B030D-6E8A-4147-A177-3AD203B41FA5}">
                      <a16:colId xmlns:a16="http://schemas.microsoft.com/office/drawing/2014/main" val="4085270368"/>
                    </a:ext>
                  </a:extLst>
                </a:gridCol>
                <a:gridCol w="1641442">
                  <a:extLst>
                    <a:ext uri="{9D8B030D-6E8A-4147-A177-3AD203B41FA5}">
                      <a16:colId xmlns:a16="http://schemas.microsoft.com/office/drawing/2014/main" val="2531740394"/>
                    </a:ext>
                  </a:extLst>
                </a:gridCol>
                <a:gridCol w="4479580">
                  <a:extLst>
                    <a:ext uri="{9D8B030D-6E8A-4147-A177-3AD203B41FA5}">
                      <a16:colId xmlns:a16="http://schemas.microsoft.com/office/drawing/2014/main" val="1803265473"/>
                    </a:ext>
                  </a:extLst>
                </a:gridCol>
              </a:tblGrid>
              <a:tr h="324350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電子件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關鍵零件名稱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成本 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NTD)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備註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474694"/>
                  </a:ext>
                </a:extLst>
              </a:tr>
              <a:tr h="6487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MCU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191.76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新料，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MSP430F4371</a:t>
                      </a:r>
                      <a:b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i="0" u="sng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1190pcs@191.76﹔1pcs@319.26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363127"/>
                  </a:ext>
                </a:extLst>
              </a:tr>
              <a:tr h="324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電晶體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參考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AC202-BCMPT29001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99374"/>
                  </a:ext>
                </a:extLst>
              </a:tr>
              <a:tr h="324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二極體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參考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AC203-B16V200002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8136403"/>
                  </a:ext>
                </a:extLst>
              </a:tr>
              <a:tr h="324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被動零件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R/C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被動元件共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594162"/>
                  </a:ext>
                </a:extLst>
              </a:tr>
              <a:tr h="324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TMR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5.8589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磁簧開關，參考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PC309-P1A0010002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079019"/>
                  </a:ext>
                </a:extLst>
              </a:tr>
              <a:tr h="5147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振盪器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32.768KHz，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參考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AC204-410Q13FC01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9683424"/>
                  </a:ext>
                </a:extLst>
              </a:tr>
              <a:tr h="324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新料，先參考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AC201-LLCT162101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482439"/>
                  </a:ext>
                </a:extLst>
              </a:tr>
              <a:tr h="55911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連接器</a:t>
                      </a:r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板端</a:t>
                      </a:r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新料，先參考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PC300-6210490001+PC300-6210290001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848249"/>
                  </a:ext>
                </a:extLst>
              </a:tr>
              <a:tr h="83095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電子線與連接器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板對線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新料，先參考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SDX5 Cable (SDXCM1P-2300000005)，</a:t>
                      </a:r>
                      <a:b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原材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NT17)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與加工費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NT11)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655873"/>
                  </a:ext>
                </a:extLst>
              </a:tr>
              <a:tr h="55911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PCB</a:t>
                      </a: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新料，先參考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PC308-EPH12M1001+PC308-EPH11D1001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830003"/>
                  </a:ext>
                </a:extLst>
              </a:tr>
              <a:tr h="3243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電子件成本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330.0489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4979290"/>
                  </a:ext>
                </a:extLst>
              </a:tr>
            </a:tbl>
          </a:graphicData>
        </a:graphic>
      </p:graphicFrame>
      <p:sp>
        <p:nvSpPr>
          <p:cNvPr id="6" name="Text Box 2">
            <a:extLst>
              <a:ext uri="{FF2B5EF4-FFF2-40B4-BE49-F238E27FC236}">
                <a16:creationId xmlns:a16="http://schemas.microsoft.com/office/drawing/2014/main" id="{39B9E187-6295-42AC-A82F-1DA70F023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18" y="311347"/>
            <a:ext cx="17588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</a:t>
            </a:r>
            <a:r>
              <a:rPr lang="zh-TW" altLang="en-US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預估</a:t>
            </a:r>
            <a:endParaRPr lang="en-US" altLang="zh-TW" sz="28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41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9EA0-CB35-41D4-AB6D-A2466648FD57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AF2EC37-FF77-4981-A62D-1AC2F5566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39" y="187425"/>
            <a:ext cx="24192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2800" b="1" u="sng" dirty="0">
                <a:solidFill>
                  <a:srgbClr val="99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MSP430F4371</a:t>
            </a:r>
            <a:endParaRPr lang="zh-TW" altLang="en-US" sz="2800" b="1" u="sng" dirty="0">
              <a:solidFill>
                <a:srgbClr val="99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2" name="文字方塊 1">
            <a:extLst>
              <a:ext uri="{FF2B5EF4-FFF2-40B4-BE49-F238E27FC236}">
                <a16:creationId xmlns:a16="http://schemas.microsoft.com/office/drawing/2014/main" id="{0238BF76-DC6E-4B9A-BA0D-DA96C3976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941" y="4917763"/>
            <a:ext cx="37895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TW" sz="2400" dirty="0">
                <a:latin typeface="Arial" panose="020B0604020202020204" pitchFamily="34" charset="0"/>
              </a:rPr>
              <a:t>TI DRV5032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50B6D6F-DD03-4AFD-BA11-E73718110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30" y="725159"/>
            <a:ext cx="5547658" cy="557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55225"/>
      </p:ext>
    </p:extLst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18949</TotalTime>
  <Words>269</Words>
  <Application>Microsoft Office PowerPoint</Application>
  <PresentationFormat>如螢幕大小 (4:3)</PresentationFormat>
  <Paragraphs>77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8</vt:i4>
      </vt:variant>
    </vt:vector>
  </HeadingPairs>
  <TitlesOfParts>
    <vt:vector size="17" baseType="lpstr">
      <vt:lpstr>Adobe 黑体 Std R</vt:lpstr>
      <vt:lpstr>微軟正黑體</vt:lpstr>
      <vt:lpstr>新細明體</vt:lpstr>
      <vt:lpstr>標楷體</vt:lpstr>
      <vt:lpstr>Arial</vt:lpstr>
      <vt:lpstr>Calibri</vt:lpstr>
      <vt:lpstr>Times New Roman</vt:lpstr>
      <vt:lpstr>自訂設計</vt:lpstr>
      <vt:lpstr>1_自訂設計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chris.chiu@fine-tek.com</dc:creator>
  <cp:lastModifiedBy>彭志豪 Allen Peng</cp:lastModifiedBy>
  <cp:revision>1116</cp:revision>
  <cp:lastPrinted>2024-12-30T03:37:13Z</cp:lastPrinted>
  <dcterms:created xsi:type="dcterms:W3CDTF">2015-03-20T01:48:30Z</dcterms:created>
  <dcterms:modified xsi:type="dcterms:W3CDTF">2025-10-14T07:23:24Z</dcterms:modified>
</cp:coreProperties>
</file>