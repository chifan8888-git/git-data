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本簡報只涵蓋第一層（決策儀表板）的 6 張圖。第二、三層另行提供。目標是讓 IT 不需回頭問業務，就能在 FineBI 把同樣的數字算出來。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強調可回溯性。IT 若發現數字兜不攏，直接對照第 8 頁的三個陷阱。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左側為實際畫面。六張圖共用同一份資料集，彼此可對帳：專案金額加總＝各處加總；工時＝逐人加總。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DWD 是可重用的乾淨明細，DWM 是聚合後的指標。第一層六張圖全部從 DWM 取數。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列範圍很重要：PLM014 前 6 列是標題與說明，直接讀會多出雜訊列。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人員以姓名 join 是目前最大的模型弱點，建議 IT 建置時同步向 PLM 要員工工號。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保留 RD1400/RD2000/RD2100 是為了未來有專案掛上去時不會落入未分類。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這三點是 BI 重建最常見的失敗點。第一點會讓預算金額整個錯，第二點會讓三層對不起來。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超支 940 萬全部來自處級分攤（212%），研發費與人事工時反而低於預算。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SUM_AGG 是 FineBI 的聚合函數，在不同分析維度下會重新聚合，避免固定分母問題。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這張圖本身簡單，重點是提醒 IT 兩個費用分母不同。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這是整份簡報最關鍵的一張表，工時口徑全部建立在這個歸類上。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常見錯誤：把全部 67 人或全部 23,441 筆算進去，結果與平台差很多。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門檻是依桓達 44 件的實際分佈校準的內部標準，不是 IEC 規定值，管理層可調。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工時未登錄與預算超支本期為 0 件，但規則仍要建，資料一變就會出現。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FineBI 用「角色權限＋欄位權限」實作等第隱藏，不要只靠隱藏元件。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建議 FineBI 建一張「工作日曆維度表」，未來要扣國定假日只要改這張表。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分層是為了讓六張圖用同一份 DWM，避免各圖各自算導致對不起來。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3 與第 5 條是最容易錯的兩條，對應第 8 頁的陷阱 01 與 02。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說明文件與平台 HTML 都在 C:\Git-Data\工作報表\研發戰情室\ 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2011680"/>
            <a:ext cx="5852160" cy="585216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3566160"/>
            <a:ext cx="4937760" cy="493776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8FB8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研發戰情室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第一層　資料規格與計算邏輯說明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41248" y="315468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提供 IT 於帆軟 FineBI 重建戰情平台之依據：資料來源、欄位、清洗規則、指標公式與驗收標準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4736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第一層圖表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0" y="41605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474720" y="4736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來源檔案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41605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44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126480" y="4736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778240" y="41605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23,441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778240" y="4736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工時回報筆數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59436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8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桓達科技　研發處　·　資料基準日 2026-08-14　·　v8.2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簡報目的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這份簡報要解決什麼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539728" y="6327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研發戰情室 第一層 · 資料規格與計算邏輯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298448"/>
          </a:xfrm>
          <a:prstGeom prst="roundRect">
            <a:avLst>
              <a:gd name="adj" fmla="val 4225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847088"/>
            <a:ext cx="512064" cy="512064"/>
          </a:xfrm>
          <a:prstGeom prst="ellipse">
            <a:avLst/>
          </a:prstGeom>
          <a:solidFill>
            <a:srgbClr val="1B8A5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847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✔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包含什麼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00200" y="2029968"/>
            <a:ext cx="9601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每張圖的來源檔案／工作表／欄位代號、清洗規則、計算公式、本期實際數值，以及 FineBI 的建置作法與驗收對帳規則。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944368"/>
            <a:ext cx="11064240" cy="1298448"/>
          </a:xfrm>
          <a:prstGeom prst="roundRect">
            <a:avLst>
              <a:gd name="adj" fmla="val 4225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328416"/>
            <a:ext cx="512064" cy="512064"/>
          </a:xfrm>
          <a:prstGeom prst="ellipse">
            <a:avLst/>
          </a:prstGeom>
          <a:solidFill>
            <a:srgbClr val="B3352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3284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✘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1272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不包含什麼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00200" y="3511296"/>
            <a:ext cx="9601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第二層（處級管理）與第三層（數據明細）的圖表定義，另以相同格式提供；也不含帆軟授權、伺服器與帳號權限的建置。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425696"/>
            <a:ext cx="11064240" cy="1298448"/>
          </a:xfrm>
          <a:prstGeom prst="roundRect">
            <a:avLst>
              <a:gd name="adj" fmla="val 4225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809744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8097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00200" y="46085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怎麼用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600200" y="4992624"/>
            <a:ext cx="9601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照第 5 頁的資料流建 5 張 ODS 表，再依第 9 頁起的逐圖規格建指標，最後用第 20 頁的檢核清單驗收。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關鍵前提：所有數字皆可回溯到 Excel 的某一欄。若 FineBI 算出來與平台不同，一定是清洗規則沒對齊，不是「口徑不同」。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儀表板總覽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第一層：6 張圖，一頁決策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539728" y="6327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研發戰情室 第一層 · 資料規格與計算邏輯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25296"/>
            <a:ext cx="4160520" cy="47183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0" y="1225296"/>
            <a:ext cx="6583680" cy="603504"/>
          </a:xfrm>
          <a:prstGeom prst="roundRect">
            <a:avLst>
              <a:gd name="adj" fmla="val 9091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230368" y="133502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6"/>
          <p:cNvSpPr/>
          <p:nvPr/>
        </p:nvSpPr>
        <p:spPr>
          <a:xfrm>
            <a:off x="5230368" y="1335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42432" y="12893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專案金額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742432" y="1545336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錢投在哪、超支多少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0" y="2048256"/>
            <a:ext cx="6583680" cy="603504"/>
          </a:xfrm>
          <a:prstGeom prst="roundRect">
            <a:avLst>
              <a:gd name="adj" fmla="val 9091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230368" y="215798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1"/>
          <p:cNvSpPr/>
          <p:nvPr/>
        </p:nvSpPr>
        <p:spPr>
          <a:xfrm>
            <a:off x="5230368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742432" y="21122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專案狀態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742432" y="2368296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44 件案子的健康分佈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0" y="2871216"/>
            <a:ext cx="6583680" cy="603504"/>
          </a:xfrm>
          <a:prstGeom prst="roundRect">
            <a:avLst>
              <a:gd name="adj" fmla="val 9091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230368" y="298094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6"/>
          <p:cNvSpPr/>
          <p:nvPr/>
        </p:nvSpPr>
        <p:spPr>
          <a:xfrm>
            <a:off x="5230368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742432" y="29352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工時狀態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742432" y="3191256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產能有多少真的在專案上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029200" y="3694176"/>
            <a:ext cx="6583680" cy="603504"/>
          </a:xfrm>
          <a:prstGeom prst="roundRect">
            <a:avLst>
              <a:gd name="adj" fmla="val 9091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230368" y="380390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1"/>
          <p:cNvSpPr/>
          <p:nvPr/>
        </p:nvSpPr>
        <p:spPr>
          <a:xfrm>
            <a:off x="5230368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742432" y="3758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風險矩陣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742432" y="4014216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哪幾件要優先處理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029200" y="4517136"/>
            <a:ext cx="6583680" cy="603504"/>
          </a:xfrm>
          <a:prstGeom prst="roundRect">
            <a:avLst>
              <a:gd name="adj" fmla="val 9091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230368" y="462686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6"/>
          <p:cNvSpPr/>
          <p:nvPr/>
        </p:nvSpPr>
        <p:spPr>
          <a:xfrm>
            <a:off x="5230368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742432" y="45811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異常專案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5742432" y="4837176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進行中、今天就要處理的清單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029200" y="5340096"/>
            <a:ext cx="6583680" cy="603504"/>
          </a:xfrm>
          <a:prstGeom prst="roundRect">
            <a:avLst>
              <a:gd name="adj" fmla="val 9091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230368" y="544982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4" name="Text 31"/>
          <p:cNvSpPr/>
          <p:nvPr/>
        </p:nvSpPr>
        <p:spPr>
          <a:xfrm>
            <a:off x="5230368" y="5449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⑥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5742432" y="54041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各處級人力負荷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5742432" y="5660136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人夠不夠、誰能加載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建置架構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資料流：五個 Excel → 三層資料集 → 六張圖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539728" y="6327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研發戰情室 第一層 · 資料規格與計算邏輯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2670048" cy="4224528"/>
          </a:xfrm>
          <a:prstGeom prst="roundRect">
            <a:avLst>
              <a:gd name="adj" fmla="val 2055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25880"/>
            <a:ext cx="2670048" cy="475488"/>
          </a:xfrm>
          <a:prstGeom prst="roundRect">
            <a:avLst>
              <a:gd name="adj" fmla="val 11538"/>
            </a:avLst>
          </a:prstGeom>
          <a:solidFill>
            <a:srgbClr val="7A889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25880"/>
            <a:ext cx="2670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來源 ODS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94944" y="193852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PLM014.xlsx　專案主檔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94944" y="257860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專案進度表.xlsx　逐人工時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94944" y="321868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PLM001.xlsx　任務明細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94944" y="385876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PLM002.xlsx　工時回報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94944" y="449884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研發專案預算與實際統計.xlsx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36976" y="3200400"/>
            <a:ext cx="146304" cy="274320"/>
          </a:xfrm>
          <a:prstGeom prst="rightArrow">
            <a:avLst/>
          </a:prstGeom>
          <a:solidFill>
            <a:srgbClr val="7A8894"/>
          </a:solidFill>
          <a:ln/>
        </p:spPr>
      </p:sp>
      <p:sp>
        <p:nvSpPr>
          <p:cNvPr id="15" name="Shape 13"/>
          <p:cNvSpPr/>
          <p:nvPr/>
        </p:nvSpPr>
        <p:spPr>
          <a:xfrm>
            <a:off x="3401568" y="1325880"/>
            <a:ext cx="2670048" cy="4224528"/>
          </a:xfrm>
          <a:prstGeom prst="roundRect">
            <a:avLst>
              <a:gd name="adj" fmla="val 2055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01568" y="1325880"/>
            <a:ext cx="2670048" cy="475488"/>
          </a:xfrm>
          <a:prstGeom prst="roundRect">
            <a:avLst>
              <a:gd name="adj" fmla="val 11538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3401568" y="1325880"/>
            <a:ext cx="2670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清洗 DWD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547872" y="193852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統一專案編號 TRIM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547872" y="257860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部門代號 → 處／部門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47872" y="321868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費用三段拆解（去重複）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547872" y="385876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工時類別 → 7 個歸屬桶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547872" y="449884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日期欄位型別與合理性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89904" y="3200400"/>
            <a:ext cx="146304" cy="274320"/>
          </a:xfrm>
          <a:prstGeom prst="rightArrow">
            <a:avLst/>
          </a:prstGeom>
          <a:solidFill>
            <a:srgbClr val="7A8894"/>
          </a:solidFill>
          <a:ln/>
        </p:spPr>
      </p:sp>
      <p:sp>
        <p:nvSpPr>
          <p:cNvPr id="24" name="Shape 22"/>
          <p:cNvSpPr/>
          <p:nvPr/>
        </p:nvSpPr>
        <p:spPr>
          <a:xfrm>
            <a:off x="6254496" y="1325880"/>
            <a:ext cx="2670048" cy="4224528"/>
          </a:xfrm>
          <a:prstGeom prst="roundRect">
            <a:avLst>
              <a:gd name="adj" fmla="val 2055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54496" y="1325880"/>
            <a:ext cx="2670048" cy="475488"/>
          </a:xfrm>
          <a:prstGeom prst="roundRect">
            <a:avLst>
              <a:gd name="adj" fmla="val 11538"/>
            </a:avLst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6254496" y="1325880"/>
            <a:ext cx="2670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指標 DWM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00800" y="193852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專案層：進度／逾期／SPI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0" y="257860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費用層：預算 vs 實際三段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0" y="321868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工時層：專案 vs 非專案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0" y="385876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人員層：負荷率／績效百分位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0" y="449884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異常判定與風險評分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942832" y="3200400"/>
            <a:ext cx="146304" cy="274320"/>
          </a:xfrm>
          <a:prstGeom prst="rightArrow">
            <a:avLst/>
          </a:prstGeom>
          <a:solidFill>
            <a:srgbClr val="7A8894"/>
          </a:solidFill>
          <a:ln/>
        </p:spPr>
      </p:sp>
      <p:sp>
        <p:nvSpPr>
          <p:cNvPr id="33" name="Shape 31"/>
          <p:cNvSpPr/>
          <p:nvPr/>
        </p:nvSpPr>
        <p:spPr>
          <a:xfrm>
            <a:off x="9107424" y="1325880"/>
            <a:ext cx="2670048" cy="4224528"/>
          </a:xfrm>
          <a:prstGeom prst="roundRect">
            <a:avLst>
              <a:gd name="adj" fmla="val 2055"/>
            </a:avLst>
          </a:prstGeom>
          <a:solidFill>
            <a:srgbClr val="EAF1F6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07424" y="1325880"/>
            <a:ext cx="2670048" cy="475488"/>
          </a:xfrm>
          <a:prstGeom prst="roundRect">
            <a:avLst>
              <a:gd name="adj" fmla="val 11538"/>
            </a:avLst>
          </a:prstGeom>
          <a:solidFill>
            <a:srgbClr val="21295C"/>
          </a:solidFill>
          <a:ln/>
        </p:spPr>
      </p:sp>
      <p:sp>
        <p:nvSpPr>
          <p:cNvPr id="35" name="Text 33"/>
          <p:cNvSpPr/>
          <p:nvPr/>
        </p:nvSpPr>
        <p:spPr>
          <a:xfrm>
            <a:off x="9107424" y="1325880"/>
            <a:ext cx="2670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儀表板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9253728" y="193852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① 專案金額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53728" y="257860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② 專案狀態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253728" y="321868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③ 工時狀態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253728" y="385876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④ 風險矩陣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253728" y="449884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⑤ 異常專案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253728" y="513892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⑥ 各處級人力負荷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建議在 FineBI 以「分析主題／自助資料集」對應 DWD 與 DWM 兩層，不要在儀表板元件裡寫臨時公式 —— 否則六張圖會各自算各自的，數字對不起來。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來源清冊：檔案、工作表、資料列範圍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539728" y="6327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研發戰情室 第一層 · 資料規格與計算邏輯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286000"/>
                <a:gridCol w="2011680"/>
                <a:gridCol w="731520"/>
                <a:gridCol w="3291840"/>
                <a:gridCol w="822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來源檔案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工作表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標題列／資料列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筆數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第一層用途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更新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PLM014.xlsx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工作表1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標題 6 列／資料 7–50 列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專案主檔：狀態、日期、進度、部門代號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專案進度表.xlsx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工作表1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標題 4 列／資料 6–49 列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逐人預計／實際設計工時（Y 欄起每人 2 欄）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PLM001.xlsx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工作表1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標題 1 列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2,449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任務層逾期、延遲原因（第一層僅供下鑽）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PLM002.xlsx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工作表1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標題 1 列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23,441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工時回報：類別、專案編號、日期、時數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(2026.7月份)研發專案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預算與實際統計.xlsx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2026年-專案費用統計(範圍)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標題 4 列／資料 6 列起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實際費用（S/T/U/V 欄）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月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同上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(預計)專案費用統計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 4 列起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核定預算（O/P/Q/R 欄）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年度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同上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(2026.x)費用分攤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官方部門代號樹（組織對應的依據）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月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PLM002 為唯一日更來源，其餘週／月更新。FineBI 排程建議：PLM002 每日 06:00 增量，其餘每週一 06:00 全量。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資料模型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主鍵與關聯：三個 join key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539728" y="6327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研發戰情室 第一層 · 資料規格與計算邏輯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1389888"/>
          </a:xfrm>
          <a:prstGeom prst="roundRect">
            <a:avLst>
              <a:gd name="adj" fmla="val 3947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7830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63040" y="14721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專案編號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1527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 K240801R2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63040" y="182880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PLM014.B ＝ 專案進度表.B ＝ PLM001.A ＝ PLM002.F ＝ 費用表.C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463040" y="21488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44 件在五個來源中編號完全一致（差集為空），可直接內連接。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898648"/>
            <a:ext cx="11064240" cy="1389888"/>
          </a:xfrm>
          <a:prstGeom prst="roundRect">
            <a:avLst>
              <a:gd name="adj" fmla="val 3947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558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0449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部門代號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00400" y="3099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 RD1100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63040" y="340156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PLM014.D → 費用分攤工作表的代號樹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463040" y="372160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決定專案屬於研發一處或研發二處。不要用 E 欄「部門名稱」，有 3 件與代號不一致。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471416"/>
            <a:ext cx="11064240" cy="1389888"/>
          </a:xfrm>
          <a:prstGeom prst="roundRect">
            <a:avLst>
              <a:gd name="adj" fmla="val 3947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4928616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928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63040" y="46177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回報人員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200400" y="4672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姓名字串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63040" y="4974336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PLM002.C ＝ 專案進度表第 4 列的人名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463040" y="529437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兩邊都是姓名沒有工號，需 TRIM 後比對；建議日後補員工工號為正式主鍵。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維度表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組織對應：部門代號決定處別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539728" y="6327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研發戰情室 第一層 · 資料規格與計算邏輯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0350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920240"/>
                <a:gridCol w="13716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處級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部門代號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部門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本期專案數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研發一處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RD1000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研發一處直屬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RD1100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研一部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RD1200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研二部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RD1300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研三部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RD1400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研四部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0（保留）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RD1600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技術中心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研發二處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RD2000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研發二處直屬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0（保留）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RD2100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生技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0（保留）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RD2200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自動化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RD2300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產品開發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海外／上海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SRC1100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研发一部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0" y="1280160"/>
            <a:ext cx="4754880" cy="1965960"/>
          </a:xfrm>
          <a:prstGeom prst="roundRect">
            <a:avLst>
              <a:gd name="adj" fmla="val 2791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86600" y="144475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為什麼用代號不用名稱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086600" y="1810512"/>
            <a:ext cx="4297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PLM014 的 E 欄「部門名稱」為自由輸入，有 3 件專案（D260401R1、D260402R1、M250301C1 等）代號寫 RD1000 但名稱填研三部。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代號取自費用檔「費用分攤」工作表的官方代號樹，與人事編制一致，是唯一可信的組織依據。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858000" y="3456432"/>
            <a:ext cx="4754880" cy="1572768"/>
          </a:xfrm>
          <a:prstGeom prst="roundRect">
            <a:avLst>
              <a:gd name="adj" fmla="val 3488"/>
            </a:avLst>
          </a:prstGeom>
          <a:solidFill>
            <a:srgbClr val="EAF1F6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86600" y="360273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FineBI 實作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086600" y="393192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建一張「部門維度表」（11 列，如左），以部門代號為主鍵；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專案表用「新增公式列」或左合併帶入處別，不要在每張圖裡各寫一次 IF 判斷。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清洗規則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三個一定會踩到的資料陷阱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539728" y="6327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研發戰情室 第一層 · 資料規格與計算邏輯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64240" cy="1389888"/>
          </a:xfrm>
          <a:prstGeom prst="roundRect">
            <a:avLst>
              <a:gd name="adj" fmla="val 3947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544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335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1426464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費用三段會重複計算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600200" y="1755648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335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現象　</a:t>
            </a:r>
            <a:pPr indent="0" marL="0">
              <a:buNone/>
            </a:pPr>
            <a:r>
              <a:rPr lang="en-US" sz="11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預算工作表 O(研究發展費)＋P(依工時分攤)＋Q(處級分攤) 直接相加＝5,886 萬，但 R 欄總額只有 4,336 萬。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600200" y="212140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　</a:t>
            </a:r>
            <a:pPr indent="0" marL="0">
              <a:buNone/>
            </a:pPr>
            <a:r>
              <a:rPr lang="en-US" sz="11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 欄「依工時分攤」內含 O 欄。正確拆法：人事工時費用 ＝ P − O，三段互斥且合計＝R。實際費用同理：T − S。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871216"/>
            <a:ext cx="11064240" cy="1389888"/>
          </a:xfrm>
          <a:prstGeom prst="roundRect">
            <a:avLst>
              <a:gd name="adj" fmla="val 3947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12724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86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00200" y="2999232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工時小計對不上逐人明細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600200" y="3328416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86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現象　</a:t>
            </a:r>
            <a:pPr indent="0" marL="0">
              <a:buNone/>
            </a:pPr>
            <a:r>
              <a:rPr lang="en-US" sz="11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專案進度表的 V 欄總計與 Y 欄起的逐人加總不一致，9 件專案有落差，其中 4 件小計近乎 0 但逐人有 20–437 hr。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600200" y="3694176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　</a:t>
            </a:r>
            <a:pPr indent="0" marL="0">
              <a:buNone/>
            </a:pPr>
            <a:r>
              <a:rPr lang="en-US" sz="11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一律以逐人明細加總為準（平台即如此），才能讓專案＝人員＝處級三層對得起來。差額列入資料品質追蹤。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443984"/>
            <a:ext cx="11064240" cy="1389888"/>
          </a:xfrm>
          <a:prstGeom prst="roundRect">
            <a:avLst>
              <a:gd name="adj" fmla="val 3947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70001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600200" y="4572000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日期會自相矛盾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600200" y="490118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現象　</a:t>
            </a:r>
            <a:pPr indent="0" marL="0">
              <a:buNone/>
            </a:pPr>
            <a:r>
              <a:rPr lang="en-US" sz="11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件專案的「專案結案日期」早於「任務實際完成日」；8 件的實際開工早於計畫起始日 30 天以上。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600200" y="5266944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8A5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　</a:t>
            </a:r>
            <a:pPr indent="0" marL="0">
              <a:buNone/>
            </a:pPr>
            <a:r>
              <a:rPr lang="en-US" sz="11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不要修補，照實計算並標記為「資料矛盾」呈現在第三層資料品質清單，讓現場回 PLM 更正。BI 端只負責揭露。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 ①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專案金額：預算 vs 實際（分兩處）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539728" y="6327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研發戰情室 第一層 · 資料規格與計算邏輯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3977640" cy="24140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7490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預算取「(預計)專案費用統計」，實際取「2026年-專案費用統計(範圍)」。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兩處合計 4,336 萬 → 5,276 萬（121.7%）。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846320" y="1261872"/>
            <a:ext cx="6793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來源欄位（費用檔）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545336"/>
          <a:ext cx="6793992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868680"/>
                <a:gridCol w="868680"/>
                <a:gridCol w="1508760"/>
                <a:gridCol w="1508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預算欄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實際欄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預算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實際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研究發展費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1,550 萬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1,393 萬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人事工時費用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 − O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 − S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1,368 萬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871 萬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處級分攤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1,418 萬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3,011 萬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合計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4,336 萬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5,276 萬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846320" y="3099816"/>
            <a:ext cx="6793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計算公式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846320" y="3383280"/>
            <a:ext cx="67939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執行率 = SUM(實際 V) / SUM(預算 R) * 100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處別金額 = SUM(V) GROUP BY 部門代號 -&gt; 處別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242816"/>
            <a:ext cx="6793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口徑注意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846320" y="4526280"/>
            <a:ext cx="6793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35 件有編列預算、9 件（含海外 4 件）無預算。無預算者執行率顯示「—」，不可視為 0，否則處級執行率會被拉爆；計算處別執行率時分母須排除這 9 件。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 ① 實作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專案金額：FineBI 建置作法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539728" y="6327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研發戰情室 第一層 · 資料規格與計算邏輯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40080" y="1444752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44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33502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建預算與實際兩張 ODS 表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074920" y="1335024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分別讀入「(預計)專案費用統計」與「2026年-專案費用統計(範圍)」；後者 A 欄部門為合併儲存格，需先向下填滿。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41248" y="1847088"/>
            <a:ext cx="0" cy="420624"/>
          </a:xfrm>
          <a:prstGeom prst="line">
            <a:avLst/>
          </a:prstGeom>
          <a:noFill/>
          <a:ln w="19050">
            <a:solidFill>
              <a:srgbClr val="D8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414016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14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30428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各自新增三段公式列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74920" y="2304288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預算：rd=O、labor=P−O、oh=Q；實際：rd=S、labor=T−S、oh=U。務必在 DWD 層做，不要在儀表板算。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41248" y="2816352"/>
            <a:ext cx="0" cy="420624"/>
          </a:xfrm>
          <a:prstGeom prst="line">
            <a:avLst/>
          </a:prstGeom>
          <a:noFill/>
          <a:ln w="19050">
            <a:solidFill>
              <a:srgbClr val="D8E1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383280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83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327355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以專案編號左合併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74920" y="3273552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預算表 LEFT JOIN 實際表，再左合併 PLM014 取部門代號，最後左合併部門維度表取處別。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41248" y="3785616"/>
            <a:ext cx="0" cy="420624"/>
          </a:xfrm>
          <a:prstGeom prst="line">
            <a:avLst/>
          </a:prstGeom>
          <a:noFill/>
          <a:ln w="19050">
            <a:solidFill>
              <a:srgbClr val="D8E1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352544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3525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424281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建立指標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074920" y="4242816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執行率 = SUM_AGG(實際總額)/SUM_AGG(預算總額)；用 SUM_AGG 而非 SUM，確保在處別、部門任一層級聚合都正確。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41248" y="4754880"/>
            <a:ext cx="0" cy="420624"/>
          </a:xfrm>
          <a:prstGeom prst="line">
            <a:avLst/>
          </a:prstGeom>
          <a:noFill/>
          <a:ln w="19050">
            <a:solidFill>
              <a:srgbClr val="D8E1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5321808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321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34440" y="521208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儀表板元件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074920" y="5212080"/>
            <a:ext cx="6537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分組表或自訂圖表：分類軸＝處別，兩個指標系列（預算／實際）；條件屬性設定執行率 &gt;100% 轉紅。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6144768"/>
            <a:ext cx="11064240" cy="0"/>
          </a:xfrm>
          <a:prstGeom prst="roundRect">
            <a:avLst>
              <a:gd name="adj" fmla="val Infinity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579729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驗收：SUM(各處預算) = 4,336 萬、SUM(各處實際) = 5,276 萬，且逐案加總與處級加總必須相等。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 ②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專案狀態：44 件的健康分佈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539728" y="6327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研發戰情室 第一層 · 資料規格與計算邏輯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3566160" cy="3785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120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PLM014 G 欄狀態；中心數字為總件數。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434840" y="1261872"/>
            <a:ext cx="7205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來源欄位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545336"/>
          <a:ext cx="72054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4828032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欄位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來源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專案編號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PLM014 B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主鍵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專案狀態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PLM014 G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Active / Closed / Cancelled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累計費用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費用表 V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各狀態費用小計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434840" y="2752344"/>
            <a:ext cx="7205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本期結果</a:t>
            </a:r>
            <a:endParaRPr lang="en-US" sz="125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3035808"/>
          <a:ext cx="7205472" cy="914400"/>
        </p:xfrm>
        <a:graphic>
          <a:graphicData uri="http://schemas.openxmlformats.org/drawingml/2006/table">
            <a:tbl>
              <a:tblPr/>
              <a:tblGrid>
                <a:gridCol w="2084832"/>
                <a:gridCol w="1097280"/>
                <a:gridCol w="1097280"/>
                <a:gridCol w="29260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狀態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件數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占比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累計費用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在製 Active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26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59.1%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4,101 萬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已結案 Closed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16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36.4%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1,007 萬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已取消 Cancelled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4.5%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244 萬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合計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44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100%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5,352 萬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4434840" y="4498848"/>
            <a:ext cx="7205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口徑注意（兩個費用分母不同）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4434840" y="4782312"/>
            <a:ext cx="7205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本頁 5,352 萬＝全部 44 件的累計費用（含已取消）；圖① 的 5,276 萬＝35 件有編列預算者的累計費用。兩者是不同分母，報告中不可互相引用。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狀態一律取 PLM014 G 欄，勿用專案進度表的狀態欄，兩檔曾不同步。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 ③ ─ 1/2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工時狀態：工時類別如何歸類（實證，非語意）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539728" y="6327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研發戰情室 第一層 · 資料規格與計算邏輯</a:t>
            </a:r>
            <a:endParaRPr lang="en-US" sz="9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914400"/>
                <a:gridCol w="1005840"/>
                <a:gridCol w="1737360"/>
                <a:gridCol w="2011680"/>
                <a:gridCol w="21945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PLM002 工時類別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筆數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工時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有專案編號比例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歸屬桶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計入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一般專案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13,191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70,284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100%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專案直接工時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專案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其他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3,658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19,793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其他（未分類）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非專案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輔助生產(設備,檢工治模具)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2,201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11,448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生產支援／客訴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非專案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會議 / 部門會議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1,955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3,772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會議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非專案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非生產性質的跨部門協助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3,238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跨部門協助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非專案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改善型設變 / 研發送樣 / 工況 /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認證 / 產學合作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692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2,871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1–26%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研發衍生事務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非專案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客訴 / 矯正及預防報告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1,048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生產支援／客訴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非專案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出差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17%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出差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非專案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休假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884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6,119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休假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排除（不計入淨工時）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937760"/>
            <a:ext cx="11064240" cy="932688"/>
          </a:xfrm>
          <a:prstGeom prst="roundRect">
            <a:avLst>
              <a:gd name="adj" fmla="val 5882"/>
            </a:avLst>
          </a:prstGeom>
          <a:solidFill>
            <a:srgbClr val="EAF1F6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047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為什麼這樣分？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00400" y="5047488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不是照字面猜，而是看「該類別的紀錄有多少比例真的填了專案編號」。只有「一般專案」是 100%，其餘全部低於 26%，代表在現行填報習慣下，只有這一類能可靠對應到專案。這條規則若日後填報紀律改變，需重新統計後調整。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 ③ ─ 2/2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工時狀態：計算範圍與公式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539728" y="6327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研發戰情室 第一層 · 資料規格與計算邏輯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3840480" cy="2724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05993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左為「專案／非專案」檢視，平台上可切換為「非專案展開」六類圓餅。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709160" y="1261872"/>
            <a:ext cx="6931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範圍（最常算錯的一步）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709160" y="1545336"/>
            <a:ext cx="69311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人員：僅計「在職且累計工時 ≥ 100 hr」者，本期 30 人（在職＝PLM002 最後回報月份 ≥ 2026-07）。全體 67 位回報人並非全數納入。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期間：全期不截斷 2024-06-27 ~ 2026-08-12（26 個月）；僅負荷率另取近 6 個月滾動視窗。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709160" y="2496312"/>
            <a:ext cx="6931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公式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709160" y="2779776"/>
            <a:ext cx="6931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淨工時     = SUM(工時) WHERE 類別 &lt;&gt; 休假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專案工時   = SUM(工時) WHERE 類別 = 一般專案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非專案工時 = 淨工時 - 專案工時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專案工時率 = 專案工時 / 淨工時 * 100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709160" y="3977640"/>
            <a:ext cx="6931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本期值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4261104"/>
          <a:ext cx="693115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280160"/>
                <a:gridCol w="1947672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工時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占比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淨工時（已扣休假 4,593 hr）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88,602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100%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專案直接工時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53,503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60.4%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非專案工時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35,098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39.6%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　其中 其他（未分類）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14,778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占非專案 42%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　其中 生產支援／客訴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11,132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占非專案 32%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 ④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風險矩陣：發生機率 × 衝擊程度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539728" y="6327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研發戰情室 第一層 · 資料規格與計算邏輯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3429000" cy="34107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74573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僅在製 26 件；方格內為專案編號縮寫，數字為該格件數。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297680" y="1261872"/>
            <a:ext cx="7342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縱軸　發生機率 P（1–5）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1545336"/>
          <a:ext cx="734263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108192"/>
              </a:tblGrid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分項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評分規則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逾期天數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&gt;180→5　&gt;90→4　&gt;30→3　&gt;0→2　0→1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SPI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&lt;0.4→5　&lt;0.6→4　&lt;0.8→3　&lt;0.95→2　否則→1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即將異常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專案進度表 S 欄標記者 +2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合成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 = ROUND((逾期分 + SPI分 + 即將異常) ÷ 2)，上限 5（half-up）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297680" y="3031236"/>
            <a:ext cx="7342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橫軸　衝擊程度 I（1–5）</a:t>
            </a:r>
            <a:endParaRPr lang="en-US" sz="125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3314700"/>
          <a:ext cx="734263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713232"/>
                <a:gridCol w="5394960"/>
              </a:tblGrid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分項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權重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評分規則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專案類別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40%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 關鍵→5　D 協同→4　M 養護→3　E→2　G→1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累計費用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40%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&gt;500萬→5　&gt;200萬→4　&gt;80萬→3　&gt;20萬→2　否則→1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投入人力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20%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≥8人→5　≥6→4　≥4→3　≥2→2　否則→1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4297680" y="4539996"/>
            <a:ext cx="7342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風險值與分級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4297680" y="4823460"/>
            <a:ext cx="7342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風險值 = P × I ；極高 ≥20 / 高 12–19 / 中 6–11 / 低 &lt;6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4297680" y="5298948"/>
            <a:ext cx="7342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範圍與結果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4297680" y="5582412"/>
            <a:ext cx="7342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 15 件風險值 ≥12，合計累計費用 3,873 萬。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 ⑤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異常專案：只看進行中的案子，自動判定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539728" y="6327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研發戰情室 第一層 · 資料規格與計算邏輯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61872"/>
            <a:ext cx="4846320" cy="2999232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1261872"/>
          <a:ext cx="59893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566160"/>
                <a:gridCol w="8229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異常類型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判定條件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件數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結案延宕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進度 ≥99%（但 &lt;100%）且 逾期 &gt;0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逾期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逾期天數 &gt;0（且進度 &lt;99%）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即將異常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進度表 S 欄標記，且上兩類未命中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進度落後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SPI &lt; 0.6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工時未登錄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預計工時 &gt;0 但實際工時 = 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預算超支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預算執行率 &gt;150%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623560" y="3977640"/>
            <a:ext cx="5989320" cy="1481328"/>
          </a:xfrm>
          <a:prstGeom prst="roundRect">
            <a:avLst>
              <a:gd name="adj" fmla="val 3704"/>
            </a:avLst>
          </a:prstGeom>
          <a:solidFill>
            <a:srgbClr val="EAF1F6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852160" y="411480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為什麼不直接用進度表的「異常」欄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852160" y="443484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該欄有漏標，故改由 PLM014 的狀態、進度、日期自動推導，人工標記只作為「即將異常」的補充輸入。一案可同時命中多類，卡片主色依上表由上而下的優先序決定。K240801R2 進度 100% 卻仍掛在製，屬結案作業問題，已移至第三層資料品質。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4407408"/>
            <a:ext cx="4846320" cy="1051560"/>
          </a:xfrm>
          <a:prstGeom prst="roundRect">
            <a:avLst>
              <a:gd name="adj" fmla="val 5217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77240" y="45262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本期結果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77240" y="482803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在製 26 件中有 23 件命中至少一類（88%）。逾期天數一律以參考日 2026-08-14 計算，換月份重跑時此參考日要跟著換。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48640" y="561441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範圍：僅在製且進度 &lt;100%。已結案／已取消與進度 100% 者改由第三層資料品質呈現。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 ⑥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⑥ 各處級人力負荷（＋下一層四象限）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539728" y="6327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研發戰情室 第一層 · 資料規格與計算邏輯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61872"/>
            <a:ext cx="11064240" cy="1362456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88920"/>
          <a:ext cx="7635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537960"/>
              </a:tblGrid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指標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公式與口徑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負荷率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 6 個月回報工時 ÷ 應出勤工時；應出勤＝176 hr/月，末月按 10/21 折算，到職日在視窗內者只計到職後工作日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負荷分帶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過載 &gt;110％ 0 人／飽和 85–110％ 26 人／適中 60–85％ 2 人／低度 &lt;60％ 2 人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專案工時率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該處人員專案工時加總 ÷ 淨工時加總（先加總再相除，非個人比率取平均）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綜合績效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九項指標之百分位加權，輸出 0–100 分位（定義見說明文件 §5）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四象限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以負荷 85％ 與績效第 50 百分位切分（高效主力／過勞低效／量能未滿／需輔導）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412480" y="2788920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549640" y="27889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9692640" y="27889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納入人數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412480" y="3319272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549640" y="33192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90%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9692640" y="33192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平均負荷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412480" y="3849624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49640" y="38496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9692640" y="384962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過載 &gt;110%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412480" y="4379976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549640" y="437997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60%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9692640" y="437997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專案工時率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48640" y="5138928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EAF1F6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52486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35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敏感度處理（務必在 FineBI 一併實作）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777240" y="554126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主圖只到處級聚合，不涉及個人。下一層四象限永不顯示姓名，圓點依「所屬象限」著色而非 A/B/C/D 等第；等第與個人分數以角色權限控管、預設隱藏，僅主管於面談時開啟。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附表 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指標字典：第一層全部計算式一覽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539728" y="6327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研發戰情室 第一層 · 資料規格與計算邏輯</a:t>
            </a:r>
            <a:endParaRPr lang="en-US" sz="9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4389120"/>
                <a:gridCol w="2514600"/>
                <a:gridCol w="25603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指標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公式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來源欄位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本期值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專案總進度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直接取用，不重估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PLM014 Q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平均 53.9%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逾期天數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在製：參考日 − 預計完成日；結案：結案日 − 預計完成日（下限 0）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PLM014 I / N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平均 151 天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SPI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專案總進度 ÷ 時程消耗比；時程消耗比 = 已耗工作日 ÷ 預計專案周期 × 100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PLM014 Q / J / L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平均 0.40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工期膨脹倍數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實際專案周期 ÷ 預計專案周期（僅已結案）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PLM014 O / J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平均 1.42x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結案作業落差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專案結案日 − 任務實際完成日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PLM014 N − M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平均 33 天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預算執行率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實際總累計費用 ÷ 核定預算 × 100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費用表 V ÷ R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121.7%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工時達成率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實際設計工時 ÷ 預計設計工時（僅有預計者）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進度表 Y 欄起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109.2%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專案工時率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專案直接工時 ÷ 淨工時 × 100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PLM002 E / J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60.4%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負荷率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 6 個月工時 ÷ 應出勤工時（逐人依到職日折算）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PLM002 I / J + 人員名冊 E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平均 90%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風險值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 × I（見第 14 頁）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多來源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 件 ≥12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63270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工作日定義：週一至週五，不扣國定假日（與 PLM014 原生「預計專案周期（工作日）」的口徑一致）。若日後要納入國定假日，需同步改 PLM014 的計畫值，否則分子分母不同基準。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實作指引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FineBI 建置建議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539728" y="6327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研發戰情室 第一層 · 資料規格與計算邏輯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440680" cy="2048256"/>
          </a:xfrm>
          <a:prstGeom prst="roundRect">
            <a:avLst>
              <a:gd name="adj" fmla="val 2679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52704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61872" y="150876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資料集分層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1929384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ODS：五個 Excel 原樣讀入，只做型別與 TRIM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DWD：清洗與維度掛載（處別、工時桶、費用三段）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DWM：專案層／人員層兩張聚合寬表，六張圖全部從這裡取數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不要讓儀表板元件直接讀 ODS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172200" y="1325880"/>
            <a:ext cx="5440680" cy="2048256"/>
          </a:xfrm>
          <a:prstGeom prst="roundRect">
            <a:avLst>
              <a:gd name="adj" fmla="val 2679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73368" y="152704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373368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85432" y="150876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函數與寫法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1929384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聚合一律用 SUM_AGG / COUNT_AGG，隨分析維度重算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同期／組內比較用 DEF、DEF_ADD 分析函數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日期差用 DATEDIF；工作日建議用工作日曆維度表 join 計數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比率型指標（執行率、達成率）務必建成指標而非公式列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640" y="3630168"/>
            <a:ext cx="5440680" cy="2048256"/>
          </a:xfrm>
          <a:prstGeom prst="roundRect">
            <a:avLst>
              <a:gd name="adj" fmla="val 2679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3831336"/>
            <a:ext cx="384048" cy="384048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61872" y="381304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更新排程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" y="4233672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PLM002 每日 06:00 增量（依工作日期），資料量最大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PLM014／專案進度表／PLM001 每週一 06:00 全量覆蓋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費用檔每月 5 日全量覆蓋（依檔名月份判斷是否已更新）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更新後自動跑第 20 頁的對帳檢核，失敗發信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172200" y="3630168"/>
            <a:ext cx="5440680" cy="2048256"/>
          </a:xfrm>
          <a:prstGeom prst="roundRect">
            <a:avLst>
              <a:gd name="adj" fmla="val 2679"/>
            </a:avLst>
          </a:prstGeom>
          <a:solidFill>
            <a:srgbClr val="F4F7F9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73368" y="3831336"/>
            <a:ext cx="384048" cy="384048"/>
          </a:xfrm>
          <a:prstGeom prst="ellipse">
            <a:avLst/>
          </a:prstGeom>
          <a:solidFill>
            <a:srgbClr val="B3352C"/>
          </a:solidFill>
          <a:ln/>
        </p:spPr>
      </p:sp>
      <p:sp>
        <p:nvSpPr>
          <p:cNvPr id="23" name="Text 21"/>
          <p:cNvSpPr/>
          <p:nvPr/>
        </p:nvSpPr>
        <p:spPr>
          <a:xfrm>
            <a:off x="6373368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85432" y="381304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權限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92240" y="4233672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平台全員可見：專案、費用、處級工時為公開層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個人綜合績效與 A/B/C/D 等第設欄位權限，預設不可見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四象限一律匿名，不輸出姓名欄位到公開儀表板</a:t>
            </a:r>
            <a:endParaRPr lang="en-US" sz="10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第三層人員明細限主管角色</a:t>
            </a:r>
            <a:endParaRPr lang="en-US" sz="10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驗收標準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驗收檢核清單：這 8 條全過才算建好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539728" y="6327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89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研發戰情室 第一層 · 資料規格與計算邏輯</a:t>
            </a:r>
            <a:endParaRPr lang="en-US" sz="9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651760"/>
                <a:gridCol w="7909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檢核項目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通過條件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專案筆數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PLM014 讀入後恰為 44 件，五個來源的專案編號差集為空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狀態分群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在製 26 ＋ 已結案 16 ＋ 已取消 2 ＝ 44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費用三段恆等式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逐案：研發費 + 人事工時 + 處級分攤 ＝ 總額（預算與實際皆須成立）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預算加總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各處預算加總 ＝ 4,336 萬；各處實際加總 ＝ 5,276 萬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工時三層對帳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逐人加總 ＝ 專案加總 ＝ 處級加總 ＝ 31,918（預計）／35,350（實際）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淨工時恆等式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專案工時 53,503 ＋ 非專案 35,098 ＝ 淨工時 88,602（休假 4,593 不計）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人員範圍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納入計算之人員恰為 30 人（在職且累計工時 ≥100 hr）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異常件數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依第 15 頁規則判定（僅在製且進度 &lt;100%），命中至少一類者恰為 23 件</a:t>
                      </a:r>
                      <a:endParaRPr lang="en-US" sz="10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138928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AF1F6"/>
          </a:solidFill>
          <a:ln w="12700">
            <a:solidFill>
              <a:srgbClr val="D8E1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248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建議做法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377440" y="5248656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A6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把這 8 條做成一張 FineBI 的「對帳儀表板」，每次資料更新後自動跑一次，任一條不過就發信給資料負責人。人工每次比對會漏，尤其是第 3 與第 5 條。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828800"/>
            <a:ext cx="5120640" cy="51206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8FB8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第一層規格到此完整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306324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063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31720" y="3099816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依第 5 頁建 ODS、第 8 頁套清洗規則，先讓第 20 頁的 8 條檢核全過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904488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9044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研發處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31720" y="3941064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確認第 7 頁組織對應與第 14 頁風險門檻是否要調整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745736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74573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雙方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31720" y="4782312"/>
            <a:ext cx="9144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檢核通過後，再進行第二層（處級管理）與第三層（數據明細）規格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58521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B8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完整計算方法與欄位溯源：研發戰情室_計算與評估方式說明.md（§0.1 欄位級溯源表、§1–§5 指標定義、§8 已知限制）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2026-08-17T01:06:00Z</dcterms:created>
  <dcterms:modified xsi:type="dcterms:W3CDTF">2026-08-17T01:06:00Z</dcterms:modified>
</cp:coreProperties>
</file>